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63" r:id="rId7"/>
    <p:sldId id="259" r:id="rId8"/>
    <p:sldId id="260" r:id="rId9"/>
    <p:sldId id="261" r:id="rId10"/>
    <p:sldId id="262" r:id="rId11"/>
  </p:sldIdLst>
  <p:sldSz cx="18288000" cy="10287000"/>
  <p:notesSz cx="6858000" cy="9144000"/>
  <p:embeddedFontLst>
    <p:embeddedFont>
      <p:font typeface="Calibri" panose="020F0502020204030204"/>
      <p:regular r:id="rId15"/>
      <p:bold r:id="rId16"/>
      <p:italic r:id="rId17"/>
      <p:boldItalic r:id="rId18"/>
    </p:embeddedFont>
    <p:embeddedFont>
      <p:font typeface="Montserrat" panose="00000500000000000000"/>
      <p:regular r:id="rId19"/>
      <p:bold r:id="rId20"/>
      <p:italic r:id="rId21"/>
      <p:boldItalic r:id="rId22"/>
    </p:embeddedFont>
    <p:embeddedFont>
      <p:font typeface="Raleway"/>
      <p:regular r:id="rId23"/>
      <p:bold r:id="rId24"/>
      <p:italic r:id="rId25"/>
      <p:boldItalic r:id="rId26"/>
    </p:embeddedFont>
    <p:embeddedFont>
      <p:font typeface="Arimo" panose="020B0604020202020204"/>
      <p:bold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208" userDrawn="1">
          <p15:clr>
            <a:srgbClr val="000000"/>
          </p15:clr>
        </p15:guide>
        <p15:guide id="2" pos="288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48" d="100"/>
          <a:sy n="48" d="100"/>
        </p:scale>
        <p:origin x="636" y="36"/>
      </p:cViewPr>
      <p:guideLst>
        <p:guide orient="horz" pos="2208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font" Target="fonts/font14.fntdata"/><Relationship Id="rId27" Type="http://schemas.openxmlformats.org/officeDocument/2006/relationships/font" Target="fonts/font13.fntdata"/><Relationship Id="rId26" Type="http://schemas.openxmlformats.org/officeDocument/2006/relationships/font" Target="fonts/font12.fntdata"/><Relationship Id="rId25" Type="http://schemas.openxmlformats.org/officeDocument/2006/relationships/font" Target="fonts/font11.fntdata"/><Relationship Id="rId24" Type="http://schemas.openxmlformats.org/officeDocument/2006/relationships/font" Target="fonts/font10.fntdata"/><Relationship Id="rId23" Type="http://schemas.openxmlformats.org/officeDocument/2006/relationships/font" Target="fonts/font9.fntdata"/><Relationship Id="rId22" Type="http://schemas.openxmlformats.org/officeDocument/2006/relationships/font" Target="fonts/font8.fntdata"/><Relationship Id="rId21" Type="http://schemas.openxmlformats.org/officeDocument/2006/relationships/font" Target="fonts/font7.fntdata"/><Relationship Id="rId20" Type="http://schemas.openxmlformats.org/officeDocument/2006/relationships/font" Target="fonts/font6.fntdata"/><Relationship Id="rId2" Type="http://schemas.openxmlformats.org/officeDocument/2006/relationships/theme" Target="theme/theme1.xml"/><Relationship Id="rId19" Type="http://schemas.openxmlformats.org/officeDocument/2006/relationships/font" Target="fonts/font5.fntdata"/><Relationship Id="rId18" Type="http://schemas.openxmlformats.org/officeDocument/2006/relationships/font" Target="fonts/font4.fntdata"/><Relationship Id="rId17" Type="http://schemas.openxmlformats.org/officeDocument/2006/relationships/font" Target="fonts/font3.fntdata"/><Relationship Id="rId16" Type="http://schemas.openxmlformats.org/officeDocument/2006/relationships/font" Target="fonts/font2.fntdata"/><Relationship Id="rId15" Type="http://schemas.openxmlformats.org/officeDocument/2006/relationships/font" Target="fonts/font1.fntdata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86" name="Google Shape;86;p1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1.7.2013</a:t>
            </a:r>
            <a:endParaRPr lang="en-US"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7" name="Google Shape;87;p1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1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9" name="Google Shape;89;p1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90" name="Google Shape;90;p1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r>
            <a:endParaRPr lang="en-US"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01" name="Google Shape;101;p2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1.7.2013</a:t>
            </a:r>
            <a:endParaRPr lang="en-US"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2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" name="Google Shape;104;p2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05" name="Google Shape;105;p2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r>
            <a:endParaRPr lang="en-US"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15" name="Google Shape;115;p3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1.7.2013</a:t>
            </a:r>
            <a:endParaRPr lang="en-US"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6" name="Google Shape;116;p3:notes"/>
          <p:cNvSpPr>
            <a:spLocks noGrp="1" noRot="1" noChangeAspect="1"/>
          </p:cNvSpPr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p3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8" name="Google Shape;118;p3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19" name="Google Shape;119;p3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r>
            <a:endParaRPr lang="en-US"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15" name="Google Shape;115;p3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1.7.2013</a:t>
            </a:r>
            <a:endParaRPr lang="en-US"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6" name="Google Shape;116;p3:notes"/>
          <p:cNvSpPr>
            <a:spLocks noGrp="1" noRot="1" noChangeAspect="1"/>
          </p:cNvSpPr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p3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8" name="Google Shape;118;p3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19" name="Google Shape;119;p3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r>
            <a:endParaRPr lang="en-US"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25" name="Google Shape;125;p4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1.7.2013</a:t>
            </a:r>
            <a:endParaRPr lang="en-US"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6" name="Google Shape;126;p4:notes"/>
          <p:cNvSpPr>
            <a:spLocks noGrp="1" noRot="1" noChangeAspect="1"/>
          </p:cNvSpPr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p4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8" name="Google Shape;128;p4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29" name="Google Shape;129;p4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r>
            <a:endParaRPr lang="en-US"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50" name="Google Shape;150;p5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1.7.2013</a:t>
            </a:r>
            <a:endParaRPr lang="en-US"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1" name="Google Shape;151;p5:notes"/>
          <p:cNvSpPr>
            <a:spLocks noGrp="1" noRot="1" noChangeAspect="1"/>
          </p:cNvSpPr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p5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3" name="Google Shape;153;p5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54" name="Google Shape;154;p5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r>
            <a:endParaRPr lang="en-US"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62" name="Google Shape;162;p6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1.7.2013</a:t>
            </a:r>
            <a:endParaRPr lang="en-US"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3" name="Google Shape;163;p6:notes"/>
          <p:cNvSpPr>
            <a:spLocks noGrp="1" noRot="1" noChangeAspect="1"/>
          </p:cNvSpPr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4" name="Google Shape;164;p6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5" name="Google Shape;165;p6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66" name="Google Shape;166;p6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r>
            <a:endParaRPr lang="en-US"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87" name="Google Shape;187;p7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1.7.2013</a:t>
            </a:r>
            <a:endParaRPr lang="en-US"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8" name="Google Shape;188;p7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9" name="Google Shape;189;p7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0" name="Google Shape;190;p7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91" name="Google Shape;191;p7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r>
            <a:endParaRPr lang="en-US"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0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0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2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2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13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4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7" name="Google Shape;47;p14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14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9" name="Google Shape;49;p14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6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8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9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2" name="Google Shape;12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3" name="Google Shape;13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4" name="Google Shape;14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3" Type="http://schemas.openxmlformats.org/officeDocument/2006/relationships/image" Target="../media/image7.png"/><Relationship Id="rId2" Type="http://schemas.openxmlformats.org/officeDocument/2006/relationships/image" Target="../media/image4.jpe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1.xml"/><Relationship Id="rId2" Type="http://schemas.openxmlformats.org/officeDocument/2006/relationships/image" Target="../media/image2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1"/>
          <p:cNvGrpSpPr/>
          <p:nvPr/>
        </p:nvGrpSpPr>
        <p:grpSpPr>
          <a:xfrm>
            <a:off x="-9525" y="-9525"/>
            <a:ext cx="18482215" cy="10306050"/>
            <a:chOff x="0" y="0"/>
            <a:chExt cx="24642953" cy="13741400"/>
          </a:xfrm>
        </p:grpSpPr>
        <p:sp>
          <p:nvSpPr>
            <p:cNvPr id="93" name="Google Shape;93;p1"/>
            <p:cNvSpPr/>
            <p:nvPr/>
          </p:nvSpPr>
          <p:spPr>
            <a:xfrm>
              <a:off x="12700" y="12700"/>
              <a:ext cx="24617553" cy="13716000"/>
            </a:xfrm>
            <a:custGeom>
              <a:avLst/>
              <a:gdLst/>
              <a:ahLst/>
              <a:cxnLst/>
              <a:rect l="l" t="t" r="r" b="b"/>
              <a:pathLst>
                <a:path w="24617553" h="13716000" extrusionOk="0">
                  <a:moveTo>
                    <a:pt x="0" y="0"/>
                  </a:moveTo>
                  <a:lnTo>
                    <a:pt x="24617553" y="0"/>
                  </a:lnTo>
                  <a:lnTo>
                    <a:pt x="24617553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94" name="Google Shape;94;p1"/>
            <p:cNvSpPr/>
            <p:nvPr/>
          </p:nvSpPr>
          <p:spPr>
            <a:xfrm>
              <a:off x="0" y="0"/>
              <a:ext cx="24642953" cy="13741400"/>
            </a:xfrm>
            <a:custGeom>
              <a:avLst/>
              <a:gdLst/>
              <a:ahLst/>
              <a:cxnLst/>
              <a:rect l="l" t="t" r="r" b="b"/>
              <a:pathLst>
                <a:path w="24642953" h="13741400" extrusionOk="0">
                  <a:moveTo>
                    <a:pt x="12700" y="0"/>
                  </a:moveTo>
                  <a:lnTo>
                    <a:pt x="24630253" y="0"/>
                  </a:lnTo>
                  <a:cubicBezTo>
                    <a:pt x="24637239" y="0"/>
                    <a:pt x="24642953" y="5715"/>
                    <a:pt x="24642953" y="12700"/>
                  </a:cubicBezTo>
                  <a:lnTo>
                    <a:pt x="24642953" y="13728700"/>
                  </a:lnTo>
                  <a:cubicBezTo>
                    <a:pt x="24642953" y="13735686"/>
                    <a:pt x="24637239" y="13741400"/>
                    <a:pt x="24630253" y="13741400"/>
                  </a:cubicBezTo>
                  <a:lnTo>
                    <a:pt x="12700" y="13741400"/>
                  </a:lnTo>
                  <a:cubicBezTo>
                    <a:pt x="5715" y="13741400"/>
                    <a:pt x="0" y="13735686"/>
                    <a:pt x="0" y="137287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3728700"/>
                  </a:lnTo>
                  <a:lnTo>
                    <a:pt x="12700" y="13728700"/>
                  </a:lnTo>
                  <a:lnTo>
                    <a:pt x="12700" y="13716000"/>
                  </a:lnTo>
                  <a:lnTo>
                    <a:pt x="24630253" y="13716000"/>
                  </a:lnTo>
                  <a:lnTo>
                    <a:pt x="24630253" y="13728700"/>
                  </a:lnTo>
                  <a:lnTo>
                    <a:pt x="24617553" y="13728700"/>
                  </a:lnTo>
                  <a:lnTo>
                    <a:pt x="24617553" y="12700"/>
                  </a:lnTo>
                  <a:lnTo>
                    <a:pt x="24630253" y="12700"/>
                  </a:lnTo>
                  <a:lnTo>
                    <a:pt x="24630253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F49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95" name="Google Shape;95;p1"/>
          <p:cNvSpPr/>
          <p:nvPr/>
        </p:nvSpPr>
        <p:spPr>
          <a:xfrm>
            <a:off x="0" y="0"/>
            <a:ext cx="18463200" cy="10287000"/>
          </a:xfrm>
          <a:custGeom>
            <a:avLst/>
            <a:gdLst/>
            <a:ahLst/>
            <a:cxnLst/>
            <a:rect l="l" t="t" r="r" b="b"/>
            <a:pathLst>
              <a:path w="18463200" h="10287000" extrusionOk="0">
                <a:moveTo>
                  <a:pt x="0" y="0"/>
                </a:moveTo>
                <a:lnTo>
                  <a:pt x="18463200" y="0"/>
                </a:lnTo>
                <a:lnTo>
                  <a:pt x="184632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>
              <a:fillRect t="-478" b="-477"/>
            </a:stretch>
          </a:blipFill>
          <a:ln>
            <a:noFill/>
          </a:ln>
        </p:spPr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96" name="Google Shape;96;p1"/>
          <p:cNvSpPr txBox="1"/>
          <p:nvPr/>
        </p:nvSpPr>
        <p:spPr>
          <a:xfrm>
            <a:off x="5347252" y="5317168"/>
            <a:ext cx="12363191" cy="2326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Montserrat" panose="00000500000000000000"/>
                <a:cs typeface="Arial" panose="020B0604020202020204" pitchFamily="34" charset="0"/>
                <a:sym typeface="Montserrat" panose="00000500000000000000"/>
              </a:rPr>
              <a:t>                 Team Name </a:t>
            </a:r>
            <a:r>
              <a:rPr lang="en-US" sz="9000" b="1" i="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Montserrat" panose="00000500000000000000"/>
                <a:cs typeface="Arial" panose="020B0604020202020204" pitchFamily="34" charset="0"/>
                <a:sym typeface="Montserrat" panose="00000500000000000000"/>
              </a:rPr>
              <a:t>: </a:t>
            </a:r>
            <a:r>
              <a:rPr lang="en-US" sz="4800" b="1" i="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Montserrat" panose="00000500000000000000"/>
                <a:cs typeface="Arial" panose="020B0604020202020204" pitchFamily="34" charset="0"/>
                <a:sym typeface="Montserrat" panose="00000500000000000000"/>
              </a:rPr>
              <a:t>Code </a:t>
            </a:r>
            <a:r>
              <a:rPr lang="en-US" sz="4800" b="1" i="0" u="none" strike="noStrike" cap="none" dirty="0" err="1">
                <a:solidFill>
                  <a:srgbClr val="FFFFFF"/>
                </a:solidFill>
                <a:latin typeface="Arial" panose="020B0604020202020204" pitchFamily="34" charset="0"/>
                <a:ea typeface="Montserrat" panose="00000500000000000000"/>
                <a:cs typeface="Arial" panose="020B0604020202020204" pitchFamily="34" charset="0"/>
                <a:sym typeface="Montserrat" panose="00000500000000000000"/>
              </a:rPr>
              <a:t>Pirates</a:t>
            </a:r>
            <a:endParaRPr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774350" y="2297485"/>
            <a:ext cx="18226251" cy="1255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00" b="1" i="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Raleway"/>
                <a:cs typeface="Arial" panose="020B0604020202020204" pitchFamily="34" charset="0"/>
                <a:sym typeface="Raleway"/>
              </a:rPr>
              <a:t>Project Title: </a:t>
            </a:r>
            <a:r>
              <a:rPr lang="en-US" sz="68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Raleway"/>
                <a:cs typeface="Arial" panose="020B0604020202020204" pitchFamily="34" charset="0"/>
                <a:sym typeface="Raleway"/>
              </a:rPr>
              <a:t>Shiksha Care</a:t>
            </a:r>
            <a:endParaRPr dirty="0">
              <a:solidFill>
                <a:schemeClr val="accent4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8" name="Google Shape;98;p1" title="logo.png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8992925"/>
            <a:ext cx="3119526" cy="129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"/>
          <p:cNvSpPr/>
          <p:nvPr/>
        </p:nvSpPr>
        <p:spPr>
          <a:xfrm>
            <a:off x="0" y="-325488"/>
            <a:ext cx="18288000" cy="7336074"/>
          </a:xfrm>
          <a:custGeom>
            <a:avLst/>
            <a:gdLst/>
            <a:ahLst/>
            <a:cxnLst/>
            <a:rect l="l" t="t" r="r" b="b"/>
            <a:pathLst>
              <a:path w="18288000" h="7336074" extrusionOk="0">
                <a:moveTo>
                  <a:pt x="0" y="0"/>
                </a:moveTo>
                <a:lnTo>
                  <a:pt x="18288000" y="0"/>
                </a:lnTo>
                <a:lnTo>
                  <a:pt x="18288000" y="7336074"/>
                </a:lnTo>
                <a:lnTo>
                  <a:pt x="0" y="73360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>
              <a:fillRect/>
            </a:stretch>
          </a:blipFill>
          <a:ln>
            <a:noFill/>
          </a:ln>
        </p:spPr>
      </p:sp>
      <p:sp>
        <p:nvSpPr>
          <p:cNvPr id="108" name="Google Shape;108;p2"/>
          <p:cNvSpPr/>
          <p:nvPr/>
        </p:nvSpPr>
        <p:spPr>
          <a:xfrm>
            <a:off x="0" y="0"/>
            <a:ext cx="18288000" cy="7010590"/>
          </a:xfrm>
          <a:custGeom>
            <a:avLst/>
            <a:gdLst/>
            <a:ahLst/>
            <a:cxnLst/>
            <a:rect l="l" t="t" r="r" b="b"/>
            <a:pathLst>
              <a:path w="24384000" h="9347454" extrusionOk="0">
                <a:moveTo>
                  <a:pt x="0" y="0"/>
                </a:moveTo>
                <a:lnTo>
                  <a:pt x="24384000" y="0"/>
                </a:lnTo>
                <a:lnTo>
                  <a:pt x="24384000" y="9347454"/>
                </a:lnTo>
                <a:lnTo>
                  <a:pt x="0" y="93474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 amt="32999"/>
            </a:blip>
            <a:stretch>
              <a:fillRect t="-23402" b="-23402"/>
            </a:stretch>
          </a:blipFill>
          <a:ln>
            <a:noFill/>
          </a:ln>
        </p:spPr>
      </p:sp>
      <p:sp>
        <p:nvSpPr>
          <p:cNvPr id="109" name="Google Shape;109;p2"/>
          <p:cNvSpPr/>
          <p:nvPr/>
        </p:nvSpPr>
        <p:spPr>
          <a:xfrm>
            <a:off x="838835" y="353060"/>
            <a:ext cx="16689070" cy="8933180"/>
          </a:xfrm>
          <a:custGeom>
            <a:avLst/>
            <a:gdLst/>
            <a:ahLst/>
            <a:cxnLst/>
            <a:rect l="l" t="t" r="r" b="b"/>
            <a:pathLst>
              <a:path w="16688938" h="9021318" extrusionOk="0">
                <a:moveTo>
                  <a:pt x="0" y="0"/>
                </a:moveTo>
                <a:lnTo>
                  <a:pt x="16688938" y="0"/>
                </a:lnTo>
                <a:lnTo>
                  <a:pt x="16688938" y="9021318"/>
                </a:lnTo>
                <a:lnTo>
                  <a:pt x="0" y="90213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110" name="Google Shape;110;p2"/>
          <p:cNvSpPr txBox="1"/>
          <p:nvPr/>
        </p:nvSpPr>
        <p:spPr>
          <a:xfrm>
            <a:off x="1363000" y="1265685"/>
            <a:ext cx="15194550" cy="897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 b="1" i="0" u="none" strike="noStrike" cap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Problem Statement</a:t>
            </a:r>
            <a:endParaRPr lang="en-US" sz="5200" b="1" i="0" u="none" strike="noStrike" cap="non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1656715" y="2343150"/>
            <a:ext cx="15189835" cy="694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>
              <a:lnSpc>
                <a:spcPct val="58000"/>
              </a:lnSpc>
              <a:buFont typeface="Wingdings" panose="05000000000000000000" charset="0"/>
              <a:buNone/>
            </a:pPr>
            <a:endParaRPr lang="en-US" altLang="en-US" sz="4000" u="sng" dirty="0">
              <a:solidFill>
                <a:schemeClr val="bg1"/>
              </a:solidFill>
              <a:latin typeface="+mn-lt"/>
              <a:cs typeface="+mn-lt"/>
            </a:endParaRPr>
          </a:p>
          <a:p>
            <a:pPr marL="571500" lvl="0" indent="-571500" algn="l">
              <a:lnSpc>
                <a:spcPct val="58000"/>
              </a:lnSpc>
              <a:buFont typeface="Wingdings" panose="05000000000000000000" charset="0"/>
              <a:buChar char="Ø"/>
            </a:pPr>
            <a:r>
              <a:rPr lang="en-US" altLang="en-US" sz="4000" dirty="0">
                <a:solidFill>
                  <a:schemeClr val="bg1"/>
                </a:solidFill>
                <a:latin typeface="+mn-lt"/>
                <a:cs typeface="+mn-lt"/>
              </a:rPr>
              <a:t> Students study without a clear career goal.</a:t>
            </a:r>
            <a:endParaRPr lang="en-US" altLang="en-US" sz="4000" dirty="0">
              <a:solidFill>
                <a:schemeClr val="bg1"/>
              </a:solidFill>
              <a:latin typeface="+mn-lt"/>
              <a:cs typeface="+mn-lt"/>
            </a:endParaRPr>
          </a:p>
          <a:p>
            <a:pPr marL="571500" lvl="0" indent="-571500" algn="l">
              <a:lnSpc>
                <a:spcPct val="58000"/>
              </a:lnSpc>
              <a:buFont typeface="Wingdings" panose="05000000000000000000" charset="0"/>
              <a:buChar char="Ø"/>
            </a:pPr>
            <a:endParaRPr lang="en-US" altLang="en-US" sz="4000" dirty="0">
              <a:solidFill>
                <a:schemeClr val="bg1"/>
              </a:solidFill>
              <a:latin typeface="+mn-lt"/>
              <a:cs typeface="+mn-lt"/>
            </a:endParaRPr>
          </a:p>
          <a:p>
            <a:pPr marL="571500" lvl="0" indent="-571500" algn="l">
              <a:lnSpc>
                <a:spcPct val="58000"/>
              </a:lnSpc>
              <a:buFont typeface="Wingdings" panose="05000000000000000000" charset="0"/>
              <a:buChar char="Ø"/>
            </a:pPr>
            <a:r>
              <a:rPr lang="en-US" altLang="en-US" sz="4000" dirty="0">
                <a:solidFill>
                  <a:schemeClr val="bg1"/>
                </a:solidFill>
                <a:latin typeface="+mn-lt"/>
                <a:cs typeface="+mn-lt"/>
              </a:rPr>
              <a:t> Learning gaps in basics go undetected.</a:t>
            </a:r>
            <a:endParaRPr lang="en-US" altLang="en-US" sz="4000" dirty="0">
              <a:solidFill>
                <a:schemeClr val="bg1"/>
              </a:solidFill>
              <a:latin typeface="+mn-lt"/>
              <a:cs typeface="+mn-lt"/>
            </a:endParaRPr>
          </a:p>
          <a:p>
            <a:pPr marL="571500" lvl="0" indent="-571500" algn="l">
              <a:lnSpc>
                <a:spcPct val="58000"/>
              </a:lnSpc>
              <a:buFont typeface="Wingdings" panose="05000000000000000000" charset="0"/>
              <a:buChar char="Ø"/>
            </a:pPr>
            <a:endParaRPr lang="en-US" altLang="en-US" sz="4000" dirty="0">
              <a:solidFill>
                <a:schemeClr val="bg1"/>
              </a:solidFill>
              <a:latin typeface="+mn-lt"/>
              <a:cs typeface="+mn-lt"/>
            </a:endParaRPr>
          </a:p>
          <a:p>
            <a:pPr marL="571500" lvl="0" indent="-571500" algn="l">
              <a:lnSpc>
                <a:spcPct val="58000"/>
              </a:lnSpc>
              <a:buFont typeface="Wingdings" panose="05000000000000000000" charset="0"/>
              <a:buChar char="Ø"/>
            </a:pPr>
            <a:r>
              <a:rPr lang="en-US" altLang="en-US" sz="4000" dirty="0">
                <a:solidFill>
                  <a:schemeClr val="bg1"/>
                </a:solidFill>
                <a:latin typeface="+mn-lt"/>
                <a:cs typeface="+mn-lt"/>
              </a:rPr>
              <a:t> Assessments don’t reflect real understanding.</a:t>
            </a:r>
            <a:endParaRPr lang="en-US" altLang="en-US" sz="4000" dirty="0">
              <a:solidFill>
                <a:schemeClr val="bg1"/>
              </a:solidFill>
              <a:latin typeface="+mn-lt"/>
              <a:cs typeface="+mn-lt"/>
            </a:endParaRPr>
          </a:p>
          <a:p>
            <a:pPr marL="571500" lvl="0" indent="-571500" algn="l">
              <a:lnSpc>
                <a:spcPct val="58000"/>
              </a:lnSpc>
              <a:buFont typeface="Wingdings" panose="05000000000000000000" charset="0"/>
              <a:buChar char="Ø"/>
            </a:pPr>
            <a:endParaRPr lang="en-US" altLang="en-US" sz="4000" dirty="0">
              <a:solidFill>
                <a:schemeClr val="bg1"/>
              </a:solidFill>
              <a:latin typeface="+mn-lt"/>
              <a:cs typeface="+mn-lt"/>
            </a:endParaRPr>
          </a:p>
          <a:p>
            <a:pPr marL="571500" lvl="0" indent="-571500" algn="l">
              <a:lnSpc>
                <a:spcPct val="58000"/>
              </a:lnSpc>
              <a:buFont typeface="Wingdings" panose="05000000000000000000" charset="0"/>
              <a:buChar char="Ø"/>
            </a:pPr>
            <a:r>
              <a:rPr lang="en-US" altLang="en-US" sz="4000" dirty="0">
                <a:solidFill>
                  <a:schemeClr val="bg1"/>
                </a:solidFill>
                <a:latin typeface="+mn-lt"/>
                <a:cs typeface="+mn-lt"/>
              </a:rPr>
              <a:t> Career decisions are made with confusion &amp; guesswork.</a:t>
            </a:r>
            <a:endParaRPr lang="en-US" altLang="en-US" sz="4000" dirty="0">
              <a:solidFill>
                <a:schemeClr val="bg1"/>
              </a:solidFill>
              <a:latin typeface="+mn-lt"/>
              <a:cs typeface="+mn-lt"/>
            </a:endParaRPr>
          </a:p>
          <a:p>
            <a:pPr marL="571500" lvl="0" indent="-571500" algn="l">
              <a:lnSpc>
                <a:spcPct val="58000"/>
              </a:lnSpc>
              <a:buFont typeface="Wingdings" panose="05000000000000000000" charset="0"/>
              <a:buChar char="Ø"/>
            </a:pPr>
            <a:endParaRPr lang="en-US" altLang="en-US" sz="4000" dirty="0">
              <a:solidFill>
                <a:schemeClr val="bg1"/>
              </a:solidFill>
              <a:latin typeface="+mn-lt"/>
              <a:cs typeface="+mn-lt"/>
            </a:endParaRPr>
          </a:p>
          <a:p>
            <a:pPr marL="571500" lvl="0" indent="-571500" algn="l">
              <a:lnSpc>
                <a:spcPct val="58000"/>
              </a:lnSpc>
              <a:buFont typeface="Wingdings" panose="05000000000000000000" charset="0"/>
              <a:buChar char="Ø"/>
            </a:pPr>
            <a:r>
              <a:rPr lang="en-US" altLang="en-US" sz="4000" dirty="0">
                <a:solidFill>
                  <a:schemeClr val="bg1"/>
                </a:solidFill>
                <a:latin typeface="+mn-lt"/>
                <a:cs typeface="+mn-lt"/>
              </a:rPr>
              <a:t> Academic pressure causes stress, anxiety, and burnout.</a:t>
            </a:r>
            <a:endParaRPr lang="en-US" altLang="en-US" sz="4000" dirty="0">
              <a:solidFill>
                <a:schemeClr val="bg1"/>
              </a:solidFill>
              <a:latin typeface="+mn-lt"/>
              <a:cs typeface="+mn-lt"/>
            </a:endParaRPr>
          </a:p>
          <a:p>
            <a:pPr marL="571500" lvl="0" indent="-571500" algn="l">
              <a:lnSpc>
                <a:spcPct val="58000"/>
              </a:lnSpc>
              <a:buFont typeface="Wingdings" panose="05000000000000000000" charset="0"/>
              <a:buChar char="Ø"/>
            </a:pPr>
            <a:endParaRPr lang="en-US" altLang="en-US" sz="4000" dirty="0">
              <a:solidFill>
                <a:schemeClr val="bg1"/>
              </a:solidFill>
              <a:latin typeface="+mn-lt"/>
              <a:cs typeface="+mn-lt"/>
            </a:endParaRPr>
          </a:p>
          <a:p>
            <a:pPr marL="571500" lvl="0" indent="-571500" algn="l">
              <a:lnSpc>
                <a:spcPct val="58000"/>
              </a:lnSpc>
              <a:buFont typeface="Wingdings" panose="05000000000000000000" charset="0"/>
              <a:buChar char="Ø"/>
            </a:pPr>
            <a:r>
              <a:rPr lang="en-US" altLang="en-US" sz="4000" dirty="0">
                <a:solidFill>
                  <a:schemeClr val="bg1"/>
                </a:solidFill>
                <a:latin typeface="+mn-lt"/>
                <a:cs typeface="+mn-lt"/>
              </a:rPr>
              <a:t> Mental health support is ignored or disconnected.</a:t>
            </a:r>
            <a:endParaRPr lang="en-US" altLang="en-US" sz="4000" dirty="0">
              <a:solidFill>
                <a:schemeClr val="bg1"/>
              </a:solidFill>
              <a:latin typeface="+mn-lt"/>
              <a:cs typeface="+mn-lt"/>
            </a:endParaRPr>
          </a:p>
          <a:p>
            <a:pPr marL="571500" lvl="0" indent="-571500" algn="l">
              <a:lnSpc>
                <a:spcPct val="58000"/>
              </a:lnSpc>
              <a:buFont typeface="Wingdings" panose="05000000000000000000" charset="0"/>
              <a:buChar char="Ø"/>
            </a:pPr>
            <a:endParaRPr lang="en-US" altLang="en-US" sz="4000" dirty="0">
              <a:solidFill>
                <a:schemeClr val="bg1"/>
              </a:solidFill>
              <a:latin typeface="+mn-lt"/>
              <a:cs typeface="+mn-lt"/>
            </a:endParaRPr>
          </a:p>
          <a:p>
            <a:pPr marL="571500" lvl="0" indent="-571500" algn="l">
              <a:lnSpc>
                <a:spcPct val="58000"/>
              </a:lnSpc>
              <a:buFont typeface="Wingdings" panose="05000000000000000000" charset="0"/>
              <a:buChar char="Ø"/>
            </a:pPr>
            <a:r>
              <a:rPr lang="en-US" altLang="en-US" sz="4000" dirty="0">
                <a:solidFill>
                  <a:schemeClr val="bg1"/>
                </a:solidFill>
                <a:latin typeface="+mn-lt"/>
                <a:cs typeface="+mn-lt"/>
              </a:rPr>
              <a:t> Certificates do not represent real skills, Projects do.</a:t>
            </a:r>
            <a:endParaRPr lang="en-US" altLang="en-US" sz="4000" dirty="0">
              <a:solidFill>
                <a:schemeClr val="bg1"/>
              </a:solidFill>
              <a:latin typeface="+mn-lt"/>
              <a:cs typeface="+mn-lt"/>
            </a:endParaRPr>
          </a:p>
          <a:p>
            <a:pPr marL="571500" lvl="0" indent="-571500" algn="l">
              <a:lnSpc>
                <a:spcPct val="58000"/>
              </a:lnSpc>
              <a:buFont typeface="Wingdings" panose="05000000000000000000" charset="0"/>
              <a:buChar char="Ø"/>
            </a:pPr>
            <a:endParaRPr lang="en-US" altLang="en-US" sz="4000" dirty="0">
              <a:solidFill>
                <a:schemeClr val="bg1"/>
              </a:solidFill>
              <a:latin typeface="+mn-lt"/>
              <a:cs typeface="+mn-lt"/>
            </a:endParaRPr>
          </a:p>
          <a:p>
            <a:pPr marL="0" lvl="0" indent="0" algn="l">
              <a:lnSpc>
                <a:spcPct val="58000"/>
              </a:lnSpc>
              <a:buFont typeface="Wingdings" panose="05000000000000000000" charset="0"/>
              <a:buNone/>
            </a:pPr>
            <a:r>
              <a:rPr lang="en-US" altLang="en-US" sz="4000" dirty="0">
                <a:solidFill>
                  <a:schemeClr val="bg1"/>
                </a:solidFill>
                <a:latin typeface="+mn-lt"/>
                <a:cs typeface="+mn-lt"/>
              </a:rPr>
              <a:t>        “ Low confidence, wrong career choices, skill mismatch, </a:t>
            </a:r>
            <a:endParaRPr lang="en-US" altLang="en-US" sz="4000" dirty="0">
              <a:solidFill>
                <a:schemeClr val="bg1"/>
              </a:solidFill>
              <a:latin typeface="+mn-lt"/>
              <a:cs typeface="+mn-lt"/>
            </a:endParaRPr>
          </a:p>
          <a:p>
            <a:pPr marL="0" lvl="0" indent="0" algn="l">
              <a:lnSpc>
                <a:spcPct val="58000"/>
              </a:lnSpc>
              <a:buFont typeface="Wingdings" panose="05000000000000000000" charset="0"/>
              <a:buNone/>
            </a:pPr>
            <a:endParaRPr lang="en-US" altLang="en-US" sz="4000" dirty="0">
              <a:solidFill>
                <a:schemeClr val="bg1"/>
              </a:solidFill>
              <a:latin typeface="+mn-lt"/>
              <a:cs typeface="+mn-lt"/>
            </a:endParaRPr>
          </a:p>
          <a:p>
            <a:pPr marL="0" lvl="0" indent="0" algn="l">
              <a:lnSpc>
                <a:spcPct val="58000"/>
              </a:lnSpc>
              <a:buFont typeface="Wingdings" panose="05000000000000000000" charset="0"/>
              <a:buNone/>
            </a:pPr>
            <a:r>
              <a:rPr lang="en-US" altLang="en-US" sz="4000" dirty="0">
                <a:solidFill>
                  <a:schemeClr val="bg1"/>
                </a:solidFill>
                <a:latin typeface="+mn-lt"/>
                <a:cs typeface="+mn-lt"/>
              </a:rPr>
              <a:t>     		     dropouts,and serious mental-health issues.”</a:t>
            </a:r>
            <a:endParaRPr lang="en-US" altLang="en-US" sz="4000" dirty="0">
              <a:solidFill>
                <a:schemeClr val="bg1"/>
              </a:solidFill>
              <a:latin typeface="+mn-lt"/>
              <a:cs typeface="+mn-lt"/>
            </a:endParaRPr>
          </a:p>
          <a:p>
            <a:pPr marL="571500" lvl="0" indent="-571500" algn="l">
              <a:lnSpc>
                <a:spcPct val="58000"/>
              </a:lnSpc>
              <a:buFont typeface="Wingdings" panose="05000000000000000000" charset="0"/>
              <a:buChar char="Ø"/>
            </a:pPr>
            <a:endParaRPr lang="en-US" altLang="en-US" sz="4000" dirty="0">
              <a:solidFill>
                <a:schemeClr val="bg1"/>
              </a:solidFill>
              <a:latin typeface="+mn-lt"/>
              <a:cs typeface="+mn-lt"/>
            </a:endParaRPr>
          </a:p>
          <a:p>
            <a:pPr marL="571500" lvl="0" indent="-571500" algn="l">
              <a:lnSpc>
                <a:spcPct val="58000"/>
              </a:lnSpc>
              <a:buFont typeface="Wingdings" panose="05000000000000000000" charset="0"/>
              <a:buChar char="Ø"/>
            </a:pPr>
            <a:endParaRPr lang="en-US" altLang="en-US" sz="4000" dirty="0">
              <a:solidFill>
                <a:schemeClr val="bg1"/>
              </a:solidFill>
              <a:latin typeface="+mn-lt"/>
              <a:cs typeface="+mn-lt"/>
            </a:endParaRPr>
          </a:p>
        </p:txBody>
      </p:sp>
      <p:pic>
        <p:nvPicPr>
          <p:cNvPr id="112" name="Google Shape;112;p2" title="logo.png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13625350" y="959950"/>
            <a:ext cx="3119526" cy="129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/>
          <p:cNvSpPr txBox="1"/>
          <p:nvPr/>
        </p:nvSpPr>
        <p:spPr>
          <a:xfrm>
            <a:off x="703685" y="278910"/>
            <a:ext cx="7774200" cy="1919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 b="1" i="0" u="none" strike="noStrike" cap="none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Solution </a:t>
            </a:r>
            <a:r>
              <a:rPr lang="en-US" altLang="en-US" sz="5200">
                <a:latin typeface="+mn-lt"/>
                <a:cs typeface="+mn-lt"/>
                <a:sym typeface="+mn-ea"/>
              </a:rPr>
              <a:t>– ShikshaCare</a:t>
            </a:r>
            <a:endParaRPr lang="en-US" altLang="en-US" sz="5200">
              <a:latin typeface="+mn-lt"/>
              <a:cs typeface="+mn-lt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5200" b="1" i="0" u="none" strike="noStrike" cap="none">
              <a:solidFill>
                <a:srgbClr val="1A1A1A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22" name="Google Shape;122;p3" title="logo.pn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4748470" y="200525"/>
            <a:ext cx="3119526" cy="12940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Box 1"/>
          <p:cNvSpPr txBox="1"/>
          <p:nvPr/>
        </p:nvSpPr>
        <p:spPr>
          <a:xfrm>
            <a:off x="587375" y="1494790"/>
            <a:ext cx="16363950" cy="84772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60000"/>
              </a:lnSpc>
            </a:pPr>
            <a:r>
              <a:rPr lang="en-US" altLang="en-US" sz="4000">
                <a:solidFill>
                  <a:schemeClr val="tx1"/>
                </a:solidFill>
                <a:latin typeface="+mn-lt"/>
                <a:cs typeface="+mn-lt"/>
              </a:rPr>
              <a:t>ShikshaCare is an AI-driven Student Life Operating System that:</a:t>
            </a:r>
            <a:endParaRPr lang="en-US" altLang="en-US" sz="4000">
              <a:solidFill>
                <a:schemeClr val="tx1"/>
              </a:solidFill>
              <a:latin typeface="+mn-lt"/>
              <a:cs typeface="+mn-lt"/>
            </a:endParaRPr>
          </a:p>
          <a:p>
            <a:pPr>
              <a:lnSpc>
                <a:spcPct val="60000"/>
              </a:lnSpc>
            </a:pPr>
            <a:endParaRPr lang="en-US" altLang="en-US" sz="4000">
              <a:solidFill>
                <a:schemeClr val="tx1"/>
              </a:solidFill>
              <a:latin typeface="+mn-lt"/>
              <a:cs typeface="+mn-lt"/>
            </a:endParaRPr>
          </a:p>
          <a:p>
            <a:pPr marL="571500" indent="-571500">
              <a:lnSpc>
                <a:spcPct val="60000"/>
              </a:lnSpc>
              <a:buFont typeface="Wingdings" panose="05000000000000000000" charset="0"/>
              <a:buChar char="Ø"/>
            </a:pPr>
            <a:r>
              <a:rPr lang="en-US" altLang="en-US" sz="4000">
                <a:solidFill>
                  <a:schemeClr val="tx1"/>
                </a:solidFill>
                <a:latin typeface="+mn-lt"/>
                <a:cs typeface="+mn-lt"/>
              </a:rPr>
              <a:t>Understands each student’s:</a:t>
            </a:r>
            <a:endParaRPr lang="en-US" altLang="en-US" sz="4000">
              <a:solidFill>
                <a:schemeClr val="tx1"/>
              </a:solidFill>
              <a:latin typeface="+mn-lt"/>
              <a:cs typeface="+mn-lt"/>
            </a:endParaRPr>
          </a:p>
          <a:p>
            <a:pPr>
              <a:lnSpc>
                <a:spcPct val="60000"/>
              </a:lnSpc>
            </a:pPr>
            <a:endParaRPr lang="en-US" altLang="en-US" sz="4000">
              <a:solidFill>
                <a:schemeClr val="tx1"/>
              </a:solidFill>
              <a:latin typeface="+mn-lt"/>
              <a:cs typeface="+mn-lt"/>
            </a:endParaRPr>
          </a:p>
          <a:p>
            <a:pPr marL="1943100" lvl="3" indent="-571500">
              <a:lnSpc>
                <a:spcPct val="60000"/>
              </a:lnSpc>
              <a:buFont typeface="Wingdings" panose="05000000000000000000" charset="0"/>
              <a:buChar char="ü"/>
            </a:pPr>
            <a:r>
              <a:rPr lang="en-US" altLang="en-US" sz="4000">
                <a:solidFill>
                  <a:schemeClr val="tx1"/>
                </a:solidFill>
                <a:latin typeface="+mn-lt"/>
                <a:cs typeface="+mn-lt"/>
              </a:rPr>
              <a:t>interests</a:t>
            </a:r>
            <a:endParaRPr lang="en-US" altLang="en-US" sz="4000">
              <a:solidFill>
                <a:schemeClr val="tx1"/>
              </a:solidFill>
              <a:latin typeface="+mn-lt"/>
              <a:cs typeface="+mn-lt"/>
            </a:endParaRPr>
          </a:p>
          <a:p>
            <a:pPr marL="571500" indent="-571500">
              <a:lnSpc>
                <a:spcPct val="60000"/>
              </a:lnSpc>
              <a:buFont typeface="Wingdings" panose="05000000000000000000" charset="0"/>
              <a:buChar char="ü"/>
            </a:pPr>
            <a:endParaRPr lang="en-US" altLang="en-US" sz="4000">
              <a:solidFill>
                <a:schemeClr val="tx1"/>
              </a:solidFill>
              <a:latin typeface="+mn-lt"/>
              <a:cs typeface="+mn-lt"/>
            </a:endParaRPr>
          </a:p>
          <a:p>
            <a:pPr marL="1943100" lvl="3" indent="-571500">
              <a:lnSpc>
                <a:spcPct val="60000"/>
              </a:lnSpc>
              <a:buFont typeface="Wingdings" panose="05000000000000000000" charset="0"/>
              <a:buChar char="ü"/>
            </a:pPr>
            <a:r>
              <a:rPr lang="en-US" altLang="en-US" sz="4000">
                <a:solidFill>
                  <a:schemeClr val="tx1"/>
                </a:solidFill>
                <a:latin typeface="+mn-lt"/>
                <a:cs typeface="+mn-lt"/>
              </a:rPr>
              <a:t>strengths &amp; weaknesses</a:t>
            </a:r>
            <a:endParaRPr lang="en-US" altLang="en-US" sz="4000">
              <a:solidFill>
                <a:schemeClr val="tx1"/>
              </a:solidFill>
              <a:latin typeface="+mn-lt"/>
              <a:cs typeface="+mn-lt"/>
            </a:endParaRPr>
          </a:p>
          <a:p>
            <a:pPr marL="571500" indent="-571500">
              <a:lnSpc>
                <a:spcPct val="60000"/>
              </a:lnSpc>
              <a:buFont typeface="Wingdings" panose="05000000000000000000" charset="0"/>
              <a:buChar char="ü"/>
            </a:pPr>
            <a:endParaRPr lang="en-US" altLang="en-US" sz="4000">
              <a:solidFill>
                <a:schemeClr val="tx1"/>
              </a:solidFill>
              <a:latin typeface="+mn-lt"/>
              <a:cs typeface="+mn-lt"/>
            </a:endParaRPr>
          </a:p>
          <a:p>
            <a:pPr marL="1943100" lvl="3" indent="-571500">
              <a:lnSpc>
                <a:spcPct val="60000"/>
              </a:lnSpc>
              <a:buFont typeface="Wingdings" panose="05000000000000000000" charset="0"/>
              <a:buChar char="ü"/>
            </a:pPr>
            <a:r>
              <a:rPr lang="en-US" altLang="en-US" sz="4000">
                <a:solidFill>
                  <a:schemeClr val="tx1"/>
                </a:solidFill>
                <a:latin typeface="+mn-lt"/>
                <a:cs typeface="+mn-lt"/>
              </a:rPr>
              <a:t>learning gaps</a:t>
            </a:r>
            <a:endParaRPr lang="en-US" altLang="en-US" sz="4000">
              <a:solidFill>
                <a:schemeClr val="tx1"/>
              </a:solidFill>
              <a:latin typeface="+mn-lt"/>
              <a:cs typeface="+mn-lt"/>
            </a:endParaRPr>
          </a:p>
          <a:p>
            <a:pPr marL="457200" lvl="1" indent="0">
              <a:lnSpc>
                <a:spcPct val="60000"/>
              </a:lnSpc>
              <a:buFont typeface="Wingdings" panose="05000000000000000000" charset="0"/>
              <a:buNone/>
            </a:pPr>
            <a:endParaRPr lang="en-US" altLang="en-US" sz="4000">
              <a:solidFill>
                <a:schemeClr val="tx1"/>
              </a:solidFill>
              <a:latin typeface="+mn-lt"/>
              <a:cs typeface="+mn-lt"/>
            </a:endParaRPr>
          </a:p>
          <a:p>
            <a:pPr marL="1943100" lvl="3" indent="-571500">
              <a:lnSpc>
                <a:spcPct val="60000"/>
              </a:lnSpc>
              <a:buFont typeface="Wingdings" panose="05000000000000000000" charset="0"/>
              <a:buChar char="ü"/>
            </a:pPr>
            <a:r>
              <a:rPr lang="en-US" altLang="en-US" sz="4000">
                <a:solidFill>
                  <a:schemeClr val="tx1"/>
                </a:solidFill>
                <a:latin typeface="+mn-lt"/>
                <a:cs typeface="+mn-lt"/>
              </a:rPr>
              <a:t>stress levels</a:t>
            </a:r>
            <a:endParaRPr lang="en-US" altLang="en-US" sz="4000">
              <a:solidFill>
                <a:schemeClr val="tx1"/>
              </a:solidFill>
              <a:latin typeface="+mn-lt"/>
              <a:cs typeface="+mn-lt"/>
            </a:endParaRPr>
          </a:p>
          <a:p>
            <a:pPr>
              <a:lnSpc>
                <a:spcPct val="60000"/>
              </a:lnSpc>
            </a:pPr>
            <a:endParaRPr lang="en-US" altLang="en-US" sz="4000">
              <a:solidFill>
                <a:schemeClr val="tx1"/>
              </a:solidFill>
              <a:latin typeface="+mn-lt"/>
              <a:cs typeface="+mn-lt"/>
            </a:endParaRPr>
          </a:p>
          <a:p>
            <a:pPr marL="571500" indent="-571500">
              <a:lnSpc>
                <a:spcPct val="60000"/>
              </a:lnSpc>
              <a:buFont typeface="Wingdings" panose="05000000000000000000" charset="0"/>
              <a:buChar char="Ø"/>
            </a:pPr>
            <a:r>
              <a:rPr lang="en-US" altLang="en-US" sz="4000">
                <a:solidFill>
                  <a:schemeClr val="tx1"/>
                </a:solidFill>
                <a:latin typeface="+mn-lt"/>
                <a:cs typeface="+mn-lt"/>
              </a:rPr>
              <a:t>Recommends best-fit career paths with clear reasoning</a:t>
            </a:r>
            <a:endParaRPr lang="en-US" altLang="en-US" sz="4000">
              <a:solidFill>
                <a:schemeClr val="tx1"/>
              </a:solidFill>
              <a:latin typeface="+mn-lt"/>
              <a:cs typeface="+mn-lt"/>
            </a:endParaRPr>
          </a:p>
          <a:p>
            <a:pPr marL="571500" indent="-571500">
              <a:lnSpc>
                <a:spcPct val="60000"/>
              </a:lnSpc>
              <a:buFont typeface="Wingdings" panose="05000000000000000000" charset="0"/>
              <a:buChar char="Ø"/>
            </a:pPr>
            <a:endParaRPr lang="en-US" altLang="en-US" sz="4000">
              <a:solidFill>
                <a:schemeClr val="tx1"/>
              </a:solidFill>
              <a:latin typeface="+mn-lt"/>
              <a:cs typeface="+mn-lt"/>
            </a:endParaRPr>
          </a:p>
          <a:p>
            <a:pPr marL="571500" indent="-571500">
              <a:lnSpc>
                <a:spcPct val="60000"/>
              </a:lnSpc>
              <a:buFont typeface="Wingdings" panose="05000000000000000000" charset="0"/>
              <a:buChar char="Ø"/>
            </a:pPr>
            <a:r>
              <a:rPr lang="en-US" altLang="en-US" sz="4000">
                <a:solidFill>
                  <a:schemeClr val="tx1"/>
                </a:solidFill>
                <a:latin typeface="+mn-lt"/>
                <a:cs typeface="+mn-lt"/>
              </a:rPr>
              <a:t>Creates a personalized learning roadmap</a:t>
            </a:r>
            <a:endParaRPr lang="en-US" altLang="en-US" sz="4000">
              <a:solidFill>
                <a:schemeClr val="tx1"/>
              </a:solidFill>
              <a:latin typeface="+mn-lt"/>
              <a:cs typeface="+mn-lt"/>
            </a:endParaRPr>
          </a:p>
          <a:p>
            <a:pPr marL="571500" indent="-571500">
              <a:lnSpc>
                <a:spcPct val="60000"/>
              </a:lnSpc>
              <a:buFont typeface="Wingdings" panose="05000000000000000000" charset="0"/>
              <a:buChar char="Ø"/>
            </a:pPr>
            <a:endParaRPr lang="en-US" altLang="en-US" sz="4000">
              <a:solidFill>
                <a:schemeClr val="tx1"/>
              </a:solidFill>
              <a:latin typeface="+mn-lt"/>
              <a:cs typeface="+mn-lt"/>
            </a:endParaRPr>
          </a:p>
          <a:p>
            <a:pPr marL="571500" indent="-571500">
              <a:lnSpc>
                <a:spcPct val="60000"/>
              </a:lnSpc>
              <a:buFont typeface="Wingdings" panose="05000000000000000000" charset="0"/>
              <a:buChar char="Ø"/>
            </a:pPr>
            <a:r>
              <a:rPr lang="en-US" altLang="en-US" sz="4000">
                <a:solidFill>
                  <a:schemeClr val="tx1"/>
                </a:solidFill>
                <a:latin typeface="+mn-lt"/>
                <a:cs typeface="+mn-lt"/>
              </a:rPr>
              <a:t>Adapts learning difficulty in real time</a:t>
            </a:r>
            <a:endParaRPr lang="en-US" altLang="en-US" sz="4000">
              <a:solidFill>
                <a:schemeClr val="tx1"/>
              </a:solidFill>
              <a:latin typeface="+mn-lt"/>
              <a:cs typeface="+mn-lt"/>
            </a:endParaRPr>
          </a:p>
          <a:p>
            <a:pPr marL="571500" indent="-571500">
              <a:lnSpc>
                <a:spcPct val="60000"/>
              </a:lnSpc>
              <a:buFont typeface="Wingdings" panose="05000000000000000000" charset="0"/>
              <a:buChar char="Ø"/>
            </a:pPr>
            <a:endParaRPr lang="en-US" altLang="en-US" sz="4000">
              <a:solidFill>
                <a:schemeClr val="tx1"/>
              </a:solidFill>
              <a:latin typeface="+mn-lt"/>
              <a:cs typeface="+mn-lt"/>
            </a:endParaRPr>
          </a:p>
          <a:p>
            <a:pPr marL="571500" indent="-571500">
              <a:lnSpc>
                <a:spcPct val="60000"/>
              </a:lnSpc>
              <a:buFont typeface="Wingdings" panose="05000000000000000000" charset="0"/>
              <a:buChar char="Ø"/>
            </a:pPr>
            <a:r>
              <a:rPr lang="en-US" altLang="en-US" sz="4000">
                <a:solidFill>
                  <a:schemeClr val="tx1"/>
                </a:solidFill>
                <a:latin typeface="+mn-lt"/>
                <a:cs typeface="+mn-lt"/>
              </a:rPr>
              <a:t>Tracks progress continuously</a:t>
            </a:r>
            <a:endParaRPr lang="en-US" altLang="en-US" sz="4000">
              <a:solidFill>
                <a:schemeClr val="tx1"/>
              </a:solidFill>
              <a:latin typeface="+mn-lt"/>
              <a:cs typeface="+mn-lt"/>
            </a:endParaRPr>
          </a:p>
          <a:p>
            <a:pPr>
              <a:lnSpc>
                <a:spcPct val="60000"/>
              </a:lnSpc>
            </a:pPr>
            <a:endParaRPr lang="en-US" altLang="en-US" sz="4000">
              <a:solidFill>
                <a:schemeClr val="tx1"/>
              </a:solidFill>
              <a:latin typeface="+mn-lt"/>
              <a:cs typeface="+mn-lt"/>
            </a:endParaRPr>
          </a:p>
          <a:p>
            <a:pPr>
              <a:lnSpc>
                <a:spcPct val="60000"/>
              </a:lnSpc>
            </a:pPr>
            <a:r>
              <a:rPr lang="zh-CN" altLang="en-US" sz="4000" b="1">
                <a:solidFill>
                  <a:schemeClr val="tx1"/>
                </a:solidFill>
                <a:latin typeface="+mn-lt"/>
                <a:cs typeface="+mn-lt"/>
              </a:rPr>
              <a:t>🎯</a:t>
            </a:r>
            <a:r>
              <a:rPr lang="en-US" altLang="en-US" sz="4000" b="1">
                <a:solidFill>
                  <a:schemeClr val="tx1"/>
                </a:solidFill>
                <a:latin typeface="+mn-lt"/>
                <a:cs typeface="+mn-lt"/>
              </a:rPr>
              <a:t> Goal:</a:t>
            </a:r>
            <a:endParaRPr lang="en-US" altLang="en-US" sz="4000" b="1">
              <a:solidFill>
                <a:schemeClr val="tx1"/>
              </a:solidFill>
              <a:latin typeface="+mn-lt"/>
              <a:cs typeface="+mn-lt"/>
            </a:endParaRPr>
          </a:p>
          <a:p>
            <a:pPr>
              <a:lnSpc>
                <a:spcPct val="60000"/>
              </a:lnSpc>
            </a:pPr>
            <a:endParaRPr lang="en-US" altLang="en-US" sz="4000" b="1">
              <a:solidFill>
                <a:schemeClr val="tx1"/>
              </a:solidFill>
              <a:latin typeface="+mn-lt"/>
              <a:cs typeface="+mn-lt"/>
            </a:endParaRPr>
          </a:p>
          <a:p>
            <a:pPr marL="1943100" lvl="3" indent="-571500">
              <a:lnSpc>
                <a:spcPct val="60000"/>
              </a:lnSpc>
              <a:buFont typeface="Wingdings" panose="05000000000000000000" charset="0"/>
              <a:buChar char="ü"/>
            </a:pPr>
            <a:r>
              <a:rPr lang="en-US" altLang="en-US" sz="4000">
                <a:solidFill>
                  <a:schemeClr val="tx1"/>
                </a:solidFill>
                <a:latin typeface="+mn-lt"/>
                <a:cs typeface="+mn-lt"/>
              </a:rPr>
              <a:t>Clarity + Efficiency + Confidence</a:t>
            </a:r>
            <a:endParaRPr lang="en-US" altLang="en-US" sz="4000">
              <a:solidFill>
                <a:schemeClr val="tx1"/>
              </a:solidFill>
              <a:latin typeface="+mn-lt"/>
              <a:cs typeface="+mn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/>
          <p:cNvSpPr txBox="1"/>
          <p:nvPr/>
        </p:nvSpPr>
        <p:spPr>
          <a:xfrm>
            <a:off x="703685" y="200805"/>
            <a:ext cx="7774200" cy="2879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 b="1" i="0" u="none" strike="noStrike" cap="none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Solution</a:t>
            </a:r>
            <a:endParaRPr lang="en-US" sz="5200" b="1" i="0" u="none" strike="noStrike" cap="none">
              <a:solidFill>
                <a:srgbClr val="1A1A1A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 b="1" i="0" u="none" strike="noStrike" cap="none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endParaRPr lang="en-US" altLang="en-US" sz="5200">
              <a:latin typeface="+mn-lt"/>
              <a:cs typeface="+mn-lt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5200" b="1" i="0" u="none" strike="noStrike" cap="none">
              <a:solidFill>
                <a:srgbClr val="1A1A1A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22" name="Google Shape;122;p3" title="logo.pn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4748470" y="200525"/>
            <a:ext cx="3119526" cy="12940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Box 1"/>
          <p:cNvSpPr txBox="1"/>
          <p:nvPr/>
        </p:nvSpPr>
        <p:spPr>
          <a:xfrm>
            <a:off x="703580" y="1350645"/>
            <a:ext cx="17651730" cy="84772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571500" indent="-571500">
              <a:lnSpc>
                <a:spcPct val="60000"/>
              </a:lnSpc>
              <a:buFont typeface="Wingdings" panose="05000000000000000000" charset="0"/>
              <a:buChar char="Ø"/>
            </a:pPr>
            <a:r>
              <a:rPr lang="en-US" altLang="en-US" sz="4000">
                <a:solidFill>
                  <a:schemeClr val="tx1"/>
                </a:solidFill>
                <a:latin typeface="+mn-lt"/>
                <a:cs typeface="+mn-lt"/>
              </a:rPr>
              <a:t>Mental Health : -</a:t>
            </a:r>
            <a:endParaRPr lang="en-US" altLang="en-US" sz="4000">
              <a:solidFill>
                <a:schemeClr val="tx1"/>
              </a:solidFill>
              <a:latin typeface="+mn-lt"/>
              <a:cs typeface="+mn-lt"/>
            </a:endParaRPr>
          </a:p>
          <a:p>
            <a:pPr>
              <a:lnSpc>
                <a:spcPct val="60000"/>
              </a:lnSpc>
            </a:pPr>
            <a:endParaRPr lang="en-US" altLang="en-US" sz="4000">
              <a:solidFill>
                <a:schemeClr val="tx1"/>
              </a:solidFill>
              <a:latin typeface="+mn-lt"/>
              <a:cs typeface="+mn-lt"/>
            </a:endParaRPr>
          </a:p>
          <a:p>
            <a:pPr marL="1943100" lvl="3" indent="-571500">
              <a:lnSpc>
                <a:spcPct val="60000"/>
              </a:lnSpc>
              <a:buFont typeface="Wingdings" panose="05000000000000000000" charset="0"/>
              <a:buChar char="ü"/>
            </a:pPr>
            <a:r>
              <a:rPr lang="en-US" altLang="en-US" sz="4000">
                <a:solidFill>
                  <a:schemeClr val="tx1"/>
                </a:solidFill>
                <a:latin typeface="+mn-lt"/>
                <a:cs typeface="+mn-lt"/>
              </a:rPr>
              <a:t>Stress assessments</a:t>
            </a:r>
            <a:endParaRPr lang="en-US" altLang="en-US" sz="4000">
              <a:solidFill>
                <a:schemeClr val="tx1"/>
              </a:solidFill>
              <a:latin typeface="+mn-lt"/>
              <a:cs typeface="+mn-lt"/>
            </a:endParaRPr>
          </a:p>
          <a:p>
            <a:pPr marL="571500" indent="-571500">
              <a:lnSpc>
                <a:spcPct val="60000"/>
              </a:lnSpc>
              <a:buFont typeface="Wingdings" panose="05000000000000000000" charset="0"/>
              <a:buChar char="ü"/>
            </a:pPr>
            <a:endParaRPr lang="en-US" altLang="en-US" sz="4000">
              <a:solidFill>
                <a:schemeClr val="tx1"/>
              </a:solidFill>
              <a:latin typeface="+mn-lt"/>
              <a:cs typeface="+mn-lt"/>
            </a:endParaRPr>
          </a:p>
          <a:p>
            <a:pPr marL="1943100" lvl="3" indent="-571500">
              <a:lnSpc>
                <a:spcPct val="60000"/>
              </a:lnSpc>
              <a:buFont typeface="Wingdings" panose="05000000000000000000" charset="0"/>
              <a:buChar char="ü"/>
            </a:pPr>
            <a:r>
              <a:rPr lang="en-US" altLang="en-US" sz="4000">
                <a:solidFill>
                  <a:schemeClr val="tx1"/>
                </a:solidFill>
                <a:latin typeface="+mn-lt"/>
                <a:cs typeface="+mn-lt"/>
              </a:rPr>
              <a:t>Continuous stress tracking</a:t>
            </a:r>
            <a:endParaRPr lang="en-US" altLang="en-US" sz="4000">
              <a:solidFill>
                <a:schemeClr val="tx1"/>
              </a:solidFill>
              <a:latin typeface="+mn-lt"/>
              <a:cs typeface="+mn-lt"/>
            </a:endParaRPr>
          </a:p>
          <a:p>
            <a:pPr marL="571500" indent="-571500">
              <a:lnSpc>
                <a:spcPct val="60000"/>
              </a:lnSpc>
              <a:buFont typeface="Wingdings" panose="05000000000000000000" charset="0"/>
              <a:buChar char="ü"/>
            </a:pPr>
            <a:endParaRPr lang="en-US" altLang="en-US" sz="4000">
              <a:solidFill>
                <a:schemeClr val="tx1"/>
              </a:solidFill>
              <a:latin typeface="+mn-lt"/>
              <a:cs typeface="+mn-lt"/>
            </a:endParaRPr>
          </a:p>
          <a:p>
            <a:pPr marL="1943100" lvl="3" indent="-571500">
              <a:lnSpc>
                <a:spcPct val="60000"/>
              </a:lnSpc>
              <a:buFont typeface="Wingdings" panose="05000000000000000000" charset="0"/>
              <a:buChar char="ü"/>
            </a:pPr>
            <a:r>
              <a:rPr lang="en-US" altLang="en-US" sz="4000">
                <a:solidFill>
                  <a:schemeClr val="tx1"/>
                </a:solidFill>
                <a:latin typeface="+mn-lt"/>
                <a:cs typeface="+mn-lt"/>
              </a:rPr>
              <a:t>AI-based supportive guidance</a:t>
            </a:r>
            <a:endParaRPr lang="en-US" altLang="en-US" sz="4000">
              <a:solidFill>
                <a:schemeClr val="tx1"/>
              </a:solidFill>
              <a:latin typeface="+mn-lt"/>
              <a:cs typeface="+mn-lt"/>
            </a:endParaRPr>
          </a:p>
          <a:p>
            <a:pPr marL="571500" indent="-571500">
              <a:lnSpc>
                <a:spcPct val="60000"/>
              </a:lnSpc>
              <a:buFont typeface="Wingdings" panose="05000000000000000000" charset="0"/>
              <a:buChar char="ü"/>
            </a:pPr>
            <a:endParaRPr lang="en-US" altLang="en-US" sz="4000">
              <a:solidFill>
                <a:schemeClr val="tx1"/>
              </a:solidFill>
              <a:latin typeface="+mn-lt"/>
              <a:cs typeface="+mn-lt"/>
            </a:endParaRPr>
          </a:p>
          <a:p>
            <a:pPr marL="1943100" lvl="3" indent="-571500">
              <a:lnSpc>
                <a:spcPct val="60000"/>
              </a:lnSpc>
              <a:buFont typeface="Wingdings" panose="05000000000000000000" charset="0"/>
              <a:buChar char="ü"/>
            </a:pPr>
            <a:r>
              <a:rPr lang="en-US" altLang="en-US" sz="4000">
                <a:solidFill>
                  <a:schemeClr val="tx1"/>
                </a:solidFill>
                <a:latin typeface="+mn-lt"/>
                <a:cs typeface="+mn-lt"/>
              </a:rPr>
              <a:t>Early warning for burnout</a:t>
            </a:r>
            <a:endParaRPr lang="en-US" altLang="en-US" sz="4000">
              <a:solidFill>
                <a:schemeClr val="tx1"/>
              </a:solidFill>
              <a:latin typeface="+mn-lt"/>
              <a:cs typeface="+mn-lt"/>
            </a:endParaRPr>
          </a:p>
          <a:p>
            <a:pPr marL="571500" indent="-571500">
              <a:lnSpc>
                <a:spcPct val="60000"/>
              </a:lnSpc>
              <a:buFont typeface="Wingdings" panose="05000000000000000000" charset="0"/>
              <a:buChar char="ü"/>
            </a:pPr>
            <a:endParaRPr lang="en-US" altLang="en-US" sz="4000">
              <a:solidFill>
                <a:schemeClr val="tx1"/>
              </a:solidFill>
              <a:latin typeface="+mn-lt"/>
              <a:cs typeface="+mn-lt"/>
            </a:endParaRPr>
          </a:p>
          <a:p>
            <a:pPr marL="1943100" lvl="3" indent="-571500">
              <a:lnSpc>
                <a:spcPct val="60000"/>
              </a:lnSpc>
              <a:buFont typeface="Wingdings" panose="05000000000000000000" charset="0"/>
              <a:buChar char="ü"/>
            </a:pPr>
            <a:r>
              <a:rPr lang="en-US" altLang="en-US" sz="4000">
                <a:solidFill>
                  <a:schemeClr val="tx1"/>
                </a:solidFill>
                <a:latin typeface="+mn-lt"/>
                <a:cs typeface="+mn-lt"/>
              </a:rPr>
              <a:t>Safe escalation to support resources</a:t>
            </a:r>
            <a:endParaRPr lang="en-US" altLang="en-US" sz="4000">
              <a:solidFill>
                <a:schemeClr val="tx1"/>
              </a:solidFill>
              <a:latin typeface="+mn-lt"/>
              <a:cs typeface="+mn-lt"/>
            </a:endParaRPr>
          </a:p>
          <a:p>
            <a:pPr>
              <a:lnSpc>
                <a:spcPct val="60000"/>
              </a:lnSpc>
            </a:pPr>
            <a:endParaRPr lang="en-US" altLang="en-US" sz="4000">
              <a:solidFill>
                <a:schemeClr val="tx1"/>
              </a:solidFill>
              <a:latin typeface="+mn-lt"/>
              <a:cs typeface="+mn-lt"/>
            </a:endParaRPr>
          </a:p>
          <a:p>
            <a:pPr marL="571500" indent="-571500">
              <a:lnSpc>
                <a:spcPct val="60000"/>
              </a:lnSpc>
              <a:buFont typeface="Wingdings" panose="05000000000000000000" charset="0"/>
              <a:buChar char="Ø"/>
            </a:pPr>
            <a:r>
              <a:rPr lang="en-US" altLang="en-US" sz="4000">
                <a:solidFill>
                  <a:schemeClr val="tx1"/>
                </a:solidFill>
                <a:latin typeface="+mn-lt"/>
                <a:cs typeface="+mn-lt"/>
              </a:rPr>
              <a:t>Skill Validation : -</a:t>
            </a:r>
            <a:endParaRPr lang="en-US" altLang="en-US" sz="4000">
              <a:solidFill>
                <a:schemeClr val="tx1"/>
              </a:solidFill>
              <a:latin typeface="+mn-lt"/>
              <a:cs typeface="+mn-lt"/>
            </a:endParaRPr>
          </a:p>
          <a:p>
            <a:pPr marL="571500" indent="-571500">
              <a:lnSpc>
                <a:spcPct val="60000"/>
              </a:lnSpc>
              <a:buFont typeface="Wingdings" panose="05000000000000000000" charset="0"/>
              <a:buChar char="Ø"/>
            </a:pPr>
            <a:endParaRPr lang="en-US" altLang="en-US" sz="4000">
              <a:solidFill>
                <a:schemeClr val="tx1"/>
              </a:solidFill>
              <a:latin typeface="+mn-lt"/>
              <a:cs typeface="+mn-lt"/>
            </a:endParaRPr>
          </a:p>
          <a:p>
            <a:pPr marL="1943100" lvl="3" indent="-571500">
              <a:lnSpc>
                <a:spcPct val="60000"/>
              </a:lnSpc>
              <a:buFont typeface="Wingdings" panose="05000000000000000000" charset="0"/>
              <a:buChar char="ü"/>
            </a:pPr>
            <a:r>
              <a:rPr lang="en-US" altLang="en-US" sz="4000">
                <a:solidFill>
                  <a:schemeClr val="tx1"/>
                </a:solidFill>
                <a:latin typeface="+mn-lt"/>
                <a:cs typeface="+mn-lt"/>
              </a:rPr>
              <a:t>AI-recommended real-world projects</a:t>
            </a:r>
            <a:endParaRPr lang="en-US" altLang="en-US" sz="4000">
              <a:solidFill>
                <a:schemeClr val="tx1"/>
              </a:solidFill>
              <a:latin typeface="+mn-lt"/>
              <a:cs typeface="+mn-lt"/>
            </a:endParaRPr>
          </a:p>
          <a:p>
            <a:pPr marL="571500" indent="-571500">
              <a:lnSpc>
                <a:spcPct val="60000"/>
              </a:lnSpc>
              <a:buFont typeface="Wingdings" panose="05000000000000000000" charset="0"/>
              <a:buChar char="ü"/>
            </a:pPr>
            <a:endParaRPr lang="en-US" altLang="en-US" sz="4000">
              <a:solidFill>
                <a:schemeClr val="tx1"/>
              </a:solidFill>
              <a:latin typeface="+mn-lt"/>
              <a:cs typeface="+mn-lt"/>
            </a:endParaRPr>
          </a:p>
          <a:p>
            <a:pPr marL="1943100" lvl="3" indent="-571500">
              <a:lnSpc>
                <a:spcPct val="60000"/>
              </a:lnSpc>
              <a:buFont typeface="Wingdings" panose="05000000000000000000" charset="0"/>
              <a:buChar char="ü"/>
            </a:pPr>
            <a:r>
              <a:rPr lang="en-US" altLang="en-US" sz="4000">
                <a:solidFill>
                  <a:schemeClr val="tx1"/>
                </a:solidFill>
                <a:latin typeface="+mn-lt"/>
                <a:cs typeface="+mn-lt"/>
              </a:rPr>
              <a:t>Projects broken into tasks/modules</a:t>
            </a:r>
            <a:endParaRPr lang="en-US" altLang="en-US" sz="4000">
              <a:solidFill>
                <a:schemeClr val="tx1"/>
              </a:solidFill>
              <a:latin typeface="+mn-lt"/>
              <a:cs typeface="+mn-lt"/>
            </a:endParaRPr>
          </a:p>
          <a:p>
            <a:pPr marL="571500" indent="-571500">
              <a:lnSpc>
                <a:spcPct val="60000"/>
              </a:lnSpc>
              <a:buFont typeface="Wingdings" panose="05000000000000000000" charset="0"/>
              <a:buChar char="ü"/>
            </a:pPr>
            <a:endParaRPr lang="en-US" altLang="en-US" sz="4000">
              <a:solidFill>
                <a:schemeClr val="tx1"/>
              </a:solidFill>
              <a:latin typeface="+mn-lt"/>
              <a:cs typeface="+mn-lt"/>
            </a:endParaRPr>
          </a:p>
          <a:p>
            <a:pPr marL="1943100" lvl="3" indent="-571500">
              <a:lnSpc>
                <a:spcPct val="60000"/>
              </a:lnSpc>
              <a:buFont typeface="Wingdings" panose="05000000000000000000" charset="0"/>
              <a:buChar char="ü"/>
            </a:pPr>
            <a:r>
              <a:rPr lang="en-US" altLang="en-US" sz="4000">
                <a:solidFill>
                  <a:schemeClr val="tx1"/>
                </a:solidFill>
                <a:latin typeface="+mn-lt"/>
                <a:cs typeface="+mn-lt"/>
              </a:rPr>
              <a:t>Progress and consistency tracking</a:t>
            </a:r>
            <a:endParaRPr lang="en-US" altLang="en-US" sz="4000">
              <a:solidFill>
                <a:schemeClr val="tx1"/>
              </a:solidFill>
              <a:latin typeface="+mn-lt"/>
              <a:cs typeface="+mn-lt"/>
            </a:endParaRPr>
          </a:p>
          <a:p>
            <a:pPr marL="571500" indent="-571500">
              <a:lnSpc>
                <a:spcPct val="60000"/>
              </a:lnSpc>
              <a:buFont typeface="Wingdings" panose="05000000000000000000" charset="0"/>
              <a:buChar char="ü"/>
            </a:pPr>
            <a:endParaRPr lang="en-US" altLang="en-US" sz="4000">
              <a:solidFill>
                <a:schemeClr val="tx1"/>
              </a:solidFill>
              <a:latin typeface="+mn-lt"/>
              <a:cs typeface="+mn-lt"/>
            </a:endParaRPr>
          </a:p>
          <a:p>
            <a:pPr marL="1943100" lvl="3" indent="-571500">
              <a:lnSpc>
                <a:spcPct val="60000"/>
              </a:lnSpc>
              <a:buFont typeface="Wingdings" panose="05000000000000000000" charset="0"/>
              <a:buChar char="ü"/>
            </a:pPr>
            <a:r>
              <a:rPr lang="en-US" altLang="en-US" sz="4000">
                <a:solidFill>
                  <a:schemeClr val="tx1"/>
                </a:solidFill>
                <a:latin typeface="+mn-lt"/>
                <a:cs typeface="+mn-lt"/>
              </a:rPr>
              <a:t>Exportable Skill Passport</a:t>
            </a:r>
            <a:endParaRPr lang="en-US" altLang="en-US" sz="4000">
              <a:solidFill>
                <a:schemeClr val="tx1"/>
              </a:solidFill>
              <a:latin typeface="+mn-lt"/>
              <a:cs typeface="+mn-lt"/>
            </a:endParaRPr>
          </a:p>
          <a:p>
            <a:pPr>
              <a:lnSpc>
                <a:spcPct val="60000"/>
              </a:lnSpc>
            </a:pPr>
            <a:endParaRPr lang="en-US" altLang="en-US" sz="4000">
              <a:solidFill>
                <a:schemeClr val="tx1"/>
              </a:solidFill>
              <a:latin typeface="+mn-lt"/>
              <a:cs typeface="+mn-lt"/>
            </a:endParaRPr>
          </a:p>
          <a:p>
            <a:pPr>
              <a:lnSpc>
                <a:spcPct val="60000"/>
              </a:lnSpc>
            </a:pPr>
            <a:r>
              <a:rPr lang="en-US" altLang="en-US" sz="4000">
                <a:solidFill>
                  <a:schemeClr val="tx1"/>
                </a:solidFill>
                <a:latin typeface="+mn-lt"/>
                <a:cs typeface="+mn-lt"/>
              </a:rPr>
              <a:t>“Learning and mental health progress are shown in one unified dashboard.”</a:t>
            </a:r>
            <a:endParaRPr lang="en-US" altLang="en-US" sz="4000">
              <a:solidFill>
                <a:schemeClr val="tx1"/>
              </a:solidFill>
              <a:latin typeface="+mn-lt"/>
              <a:cs typeface="+mn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"/>
          <p:cNvSpPr/>
          <p:nvPr/>
        </p:nvSpPr>
        <p:spPr>
          <a:xfrm>
            <a:off x="0" y="-325480"/>
            <a:ext cx="18287636" cy="7335930"/>
          </a:xfrm>
          <a:custGeom>
            <a:avLst/>
            <a:gdLst/>
            <a:ahLst/>
            <a:cxnLst/>
            <a:rect l="l" t="t" r="r" b="b"/>
            <a:pathLst>
              <a:path w="18287636" h="7335930" extrusionOk="0">
                <a:moveTo>
                  <a:pt x="0" y="0"/>
                </a:moveTo>
                <a:lnTo>
                  <a:pt x="18287636" y="0"/>
                </a:lnTo>
                <a:lnTo>
                  <a:pt x="18287636" y="7335930"/>
                </a:lnTo>
                <a:lnTo>
                  <a:pt x="0" y="73359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>
              <a:fillRect/>
            </a:stretch>
          </a:blipFill>
          <a:ln>
            <a:noFill/>
          </a:ln>
        </p:spPr>
      </p:sp>
      <p:sp>
        <p:nvSpPr>
          <p:cNvPr id="132" name="Google Shape;132;p4"/>
          <p:cNvSpPr/>
          <p:nvPr/>
        </p:nvSpPr>
        <p:spPr>
          <a:xfrm>
            <a:off x="0" y="0"/>
            <a:ext cx="18288000" cy="7010590"/>
          </a:xfrm>
          <a:custGeom>
            <a:avLst/>
            <a:gdLst/>
            <a:ahLst/>
            <a:cxnLst/>
            <a:rect l="l" t="t" r="r" b="b"/>
            <a:pathLst>
              <a:path w="24384000" h="9347454" extrusionOk="0">
                <a:moveTo>
                  <a:pt x="0" y="0"/>
                </a:moveTo>
                <a:lnTo>
                  <a:pt x="24384000" y="0"/>
                </a:lnTo>
                <a:lnTo>
                  <a:pt x="24384000" y="9347454"/>
                </a:lnTo>
                <a:lnTo>
                  <a:pt x="0" y="93474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 amt="33000"/>
            </a:blip>
            <a:stretch>
              <a:fillRect t="-23402" b="-23402"/>
            </a:stretch>
          </a:blipFill>
          <a:ln>
            <a:noFill/>
          </a:ln>
        </p:spPr>
      </p:sp>
      <p:sp>
        <p:nvSpPr>
          <p:cNvPr id="133" name="Google Shape;133;p4"/>
          <p:cNvSpPr/>
          <p:nvPr/>
        </p:nvSpPr>
        <p:spPr>
          <a:xfrm>
            <a:off x="838850" y="353208"/>
            <a:ext cx="16689886" cy="9021318"/>
          </a:xfrm>
          <a:custGeom>
            <a:avLst/>
            <a:gdLst/>
            <a:ahLst/>
            <a:cxnLst/>
            <a:rect l="l" t="t" r="r" b="b"/>
            <a:pathLst>
              <a:path w="16689886" h="9021318" extrusionOk="0">
                <a:moveTo>
                  <a:pt x="0" y="0"/>
                </a:moveTo>
                <a:lnTo>
                  <a:pt x="16689886" y="0"/>
                </a:lnTo>
                <a:lnTo>
                  <a:pt x="16689886" y="9021318"/>
                </a:lnTo>
                <a:lnTo>
                  <a:pt x="0" y="90213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134" name="Google Shape;134;p4"/>
          <p:cNvSpPr txBox="1"/>
          <p:nvPr/>
        </p:nvSpPr>
        <p:spPr>
          <a:xfrm>
            <a:off x="1546551" y="2096100"/>
            <a:ext cx="1519455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 b="1" i="0" u="none" strike="noStrike" cap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Dependencies and Showstopper</a:t>
            </a:r>
            <a:endParaRPr lang="en-US" sz="5200" b="1" i="0" u="none" strike="noStrike" cap="non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135" name="Google Shape;135;p4"/>
          <p:cNvGrpSpPr/>
          <p:nvPr/>
        </p:nvGrpSpPr>
        <p:grpSpPr>
          <a:xfrm>
            <a:off x="2797804" y="3711675"/>
            <a:ext cx="657606" cy="686181"/>
            <a:chOff x="0" y="-38100"/>
            <a:chExt cx="876808" cy="914908"/>
          </a:xfrm>
        </p:grpSpPr>
        <p:sp>
          <p:nvSpPr>
            <p:cNvPr id="136" name="Google Shape;136;p4"/>
            <p:cNvSpPr/>
            <p:nvPr/>
          </p:nvSpPr>
          <p:spPr>
            <a:xfrm>
              <a:off x="0" y="0"/>
              <a:ext cx="876808" cy="876808"/>
            </a:xfrm>
            <a:custGeom>
              <a:avLst/>
              <a:gdLst/>
              <a:ahLst/>
              <a:cxnLst/>
              <a:rect l="l" t="t" r="r" b="b"/>
              <a:pathLst>
                <a:path w="876808" h="876808" extrusionOk="0">
                  <a:moveTo>
                    <a:pt x="0" y="438404"/>
                  </a:moveTo>
                  <a:cubicBezTo>
                    <a:pt x="0" y="196215"/>
                    <a:pt x="196215" y="0"/>
                    <a:pt x="438404" y="0"/>
                  </a:cubicBezTo>
                  <a:cubicBezTo>
                    <a:pt x="680593" y="0"/>
                    <a:pt x="876808" y="196215"/>
                    <a:pt x="876808" y="438404"/>
                  </a:cubicBezTo>
                  <a:cubicBezTo>
                    <a:pt x="876808" y="680593"/>
                    <a:pt x="680466" y="876808"/>
                    <a:pt x="438404" y="876808"/>
                  </a:cubicBezTo>
                  <a:cubicBezTo>
                    <a:pt x="196342" y="876808"/>
                    <a:pt x="0" y="680466"/>
                    <a:pt x="0" y="438404"/>
                  </a:cubicBezTo>
                  <a:close/>
                </a:path>
              </a:pathLst>
            </a:custGeom>
            <a:solidFill>
              <a:srgbClr val="F6466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7" name="Google Shape;137;p4"/>
            <p:cNvSpPr txBox="1"/>
            <p:nvPr/>
          </p:nvSpPr>
          <p:spPr>
            <a:xfrm>
              <a:off x="0" y="-38100"/>
              <a:ext cx="876800" cy="91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 u="none" strike="noStrike" cap="non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1</a:t>
              </a:r>
              <a:endParaRPr lang="en-US" sz="16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138" name="Google Shape;138;p4"/>
          <p:cNvGrpSpPr/>
          <p:nvPr/>
        </p:nvGrpSpPr>
        <p:grpSpPr>
          <a:xfrm>
            <a:off x="2797804" y="6156475"/>
            <a:ext cx="657606" cy="686181"/>
            <a:chOff x="0" y="-38100"/>
            <a:chExt cx="876808" cy="914908"/>
          </a:xfrm>
        </p:grpSpPr>
        <p:sp>
          <p:nvSpPr>
            <p:cNvPr id="139" name="Google Shape;139;p4"/>
            <p:cNvSpPr/>
            <p:nvPr/>
          </p:nvSpPr>
          <p:spPr>
            <a:xfrm>
              <a:off x="0" y="0"/>
              <a:ext cx="876808" cy="876808"/>
            </a:xfrm>
            <a:custGeom>
              <a:avLst/>
              <a:gdLst/>
              <a:ahLst/>
              <a:cxnLst/>
              <a:rect l="l" t="t" r="r" b="b"/>
              <a:pathLst>
                <a:path w="876808" h="876808" extrusionOk="0">
                  <a:moveTo>
                    <a:pt x="0" y="438404"/>
                  </a:moveTo>
                  <a:cubicBezTo>
                    <a:pt x="0" y="196215"/>
                    <a:pt x="196215" y="0"/>
                    <a:pt x="438404" y="0"/>
                  </a:cubicBezTo>
                  <a:cubicBezTo>
                    <a:pt x="680593" y="0"/>
                    <a:pt x="876808" y="196215"/>
                    <a:pt x="876808" y="438404"/>
                  </a:cubicBezTo>
                  <a:cubicBezTo>
                    <a:pt x="876808" y="680593"/>
                    <a:pt x="680466" y="876808"/>
                    <a:pt x="438404" y="876808"/>
                  </a:cubicBezTo>
                  <a:cubicBezTo>
                    <a:pt x="196342" y="876808"/>
                    <a:pt x="0" y="680466"/>
                    <a:pt x="0" y="438404"/>
                  </a:cubicBezTo>
                  <a:close/>
                </a:path>
              </a:pathLst>
            </a:custGeom>
            <a:solidFill>
              <a:srgbClr val="F6466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0" name="Google Shape;140;p4"/>
            <p:cNvSpPr txBox="1"/>
            <p:nvPr/>
          </p:nvSpPr>
          <p:spPr>
            <a:xfrm>
              <a:off x="0" y="-38100"/>
              <a:ext cx="876800" cy="91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 u="none" strike="noStrike" cap="non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2</a:t>
              </a:r>
              <a:endParaRPr lang="en-US" sz="16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141" name="Google Shape;141;p4"/>
          <p:cNvGrpSpPr/>
          <p:nvPr/>
        </p:nvGrpSpPr>
        <p:grpSpPr>
          <a:xfrm>
            <a:off x="10177842" y="3711675"/>
            <a:ext cx="657606" cy="686181"/>
            <a:chOff x="0" y="-38100"/>
            <a:chExt cx="876808" cy="914908"/>
          </a:xfrm>
        </p:grpSpPr>
        <p:sp>
          <p:nvSpPr>
            <p:cNvPr id="142" name="Google Shape;142;p4"/>
            <p:cNvSpPr/>
            <p:nvPr/>
          </p:nvSpPr>
          <p:spPr>
            <a:xfrm>
              <a:off x="0" y="0"/>
              <a:ext cx="876808" cy="876808"/>
            </a:xfrm>
            <a:custGeom>
              <a:avLst/>
              <a:gdLst/>
              <a:ahLst/>
              <a:cxnLst/>
              <a:rect l="l" t="t" r="r" b="b"/>
              <a:pathLst>
                <a:path w="876808" h="876808" extrusionOk="0">
                  <a:moveTo>
                    <a:pt x="0" y="438404"/>
                  </a:moveTo>
                  <a:cubicBezTo>
                    <a:pt x="0" y="196215"/>
                    <a:pt x="196215" y="0"/>
                    <a:pt x="438404" y="0"/>
                  </a:cubicBezTo>
                  <a:cubicBezTo>
                    <a:pt x="680593" y="0"/>
                    <a:pt x="876808" y="196215"/>
                    <a:pt x="876808" y="438404"/>
                  </a:cubicBezTo>
                  <a:cubicBezTo>
                    <a:pt x="876808" y="680593"/>
                    <a:pt x="680466" y="876808"/>
                    <a:pt x="438404" y="876808"/>
                  </a:cubicBezTo>
                  <a:cubicBezTo>
                    <a:pt x="196342" y="876808"/>
                    <a:pt x="0" y="680466"/>
                    <a:pt x="0" y="438404"/>
                  </a:cubicBezTo>
                  <a:close/>
                </a:path>
              </a:pathLst>
            </a:custGeom>
            <a:solidFill>
              <a:srgbClr val="F6466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3" name="Google Shape;143;p4"/>
            <p:cNvSpPr txBox="1"/>
            <p:nvPr/>
          </p:nvSpPr>
          <p:spPr>
            <a:xfrm>
              <a:off x="0" y="-38100"/>
              <a:ext cx="876800" cy="91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 u="none" strike="noStrike" cap="non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3</a:t>
              </a:r>
              <a:endParaRPr lang="en-US" sz="16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144" name="Google Shape;144;p4"/>
          <p:cNvGrpSpPr/>
          <p:nvPr/>
        </p:nvGrpSpPr>
        <p:grpSpPr>
          <a:xfrm>
            <a:off x="10177842" y="6156475"/>
            <a:ext cx="657606" cy="686181"/>
            <a:chOff x="0" y="-38100"/>
            <a:chExt cx="876808" cy="914908"/>
          </a:xfrm>
        </p:grpSpPr>
        <p:sp>
          <p:nvSpPr>
            <p:cNvPr id="145" name="Google Shape;145;p4"/>
            <p:cNvSpPr/>
            <p:nvPr/>
          </p:nvSpPr>
          <p:spPr>
            <a:xfrm>
              <a:off x="0" y="0"/>
              <a:ext cx="876808" cy="876808"/>
            </a:xfrm>
            <a:custGeom>
              <a:avLst/>
              <a:gdLst/>
              <a:ahLst/>
              <a:cxnLst/>
              <a:rect l="l" t="t" r="r" b="b"/>
              <a:pathLst>
                <a:path w="876808" h="876808" extrusionOk="0">
                  <a:moveTo>
                    <a:pt x="0" y="438404"/>
                  </a:moveTo>
                  <a:cubicBezTo>
                    <a:pt x="0" y="196215"/>
                    <a:pt x="196215" y="0"/>
                    <a:pt x="438404" y="0"/>
                  </a:cubicBezTo>
                  <a:cubicBezTo>
                    <a:pt x="680593" y="0"/>
                    <a:pt x="876808" y="196215"/>
                    <a:pt x="876808" y="438404"/>
                  </a:cubicBezTo>
                  <a:cubicBezTo>
                    <a:pt x="876808" y="680593"/>
                    <a:pt x="680466" y="876808"/>
                    <a:pt x="438404" y="876808"/>
                  </a:cubicBezTo>
                  <a:cubicBezTo>
                    <a:pt x="196342" y="876808"/>
                    <a:pt x="0" y="680466"/>
                    <a:pt x="0" y="438404"/>
                  </a:cubicBezTo>
                  <a:close/>
                </a:path>
              </a:pathLst>
            </a:custGeom>
            <a:solidFill>
              <a:srgbClr val="F6466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6" name="Google Shape;146;p4"/>
            <p:cNvSpPr txBox="1"/>
            <p:nvPr/>
          </p:nvSpPr>
          <p:spPr>
            <a:xfrm>
              <a:off x="0" y="-38100"/>
              <a:ext cx="876800" cy="91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 u="none" strike="noStrike" cap="non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4</a:t>
              </a:r>
              <a:endParaRPr lang="en-US" sz="16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pic>
        <p:nvPicPr>
          <p:cNvPr id="147" name="Google Shape;147;p4" title="logo.png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14409200" y="802025"/>
            <a:ext cx="3119526" cy="12940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Box 1"/>
          <p:cNvSpPr txBox="1"/>
          <p:nvPr/>
        </p:nvSpPr>
        <p:spPr>
          <a:xfrm>
            <a:off x="3677920" y="3688080"/>
            <a:ext cx="671385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3200">
                <a:solidFill>
                  <a:schemeClr val="bg1"/>
                </a:solidFill>
              </a:rPr>
              <a:t>Student participation and honest input</a:t>
            </a:r>
            <a:endParaRPr lang="en-US" altLang="en-US" sz="3200">
              <a:solidFill>
                <a:schemeClr val="bg1"/>
              </a:solidFill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590925" y="6263640"/>
            <a:ext cx="680021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3200">
                <a:solidFill>
                  <a:schemeClr val="bg1"/>
                </a:solidFill>
              </a:rPr>
              <a:t>Continuous engagement with learning activities</a:t>
            </a:r>
            <a:endParaRPr lang="en-US" altLang="en-US" sz="3200">
              <a:solidFill>
                <a:schemeClr val="bg1"/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1085830" y="3687445"/>
            <a:ext cx="6096000" cy="5067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3200">
                <a:solidFill>
                  <a:schemeClr val="bg1"/>
                </a:solidFill>
              </a:rPr>
              <a:t>Low user motivation</a:t>
            </a:r>
            <a:endParaRPr lang="en-US" altLang="en-US" sz="3200">
              <a:solidFill>
                <a:schemeClr val="bg1"/>
              </a:solidFill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10998835" y="6156325"/>
            <a:ext cx="5613400" cy="7861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3200">
                <a:solidFill>
                  <a:schemeClr val="bg1"/>
                </a:solidFill>
              </a:rPr>
              <a:t>Mental health sensitivity</a:t>
            </a:r>
            <a:endParaRPr lang="en-US" altLang="en-US" sz="32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"/>
          <p:cNvSpPr/>
          <p:nvPr/>
        </p:nvSpPr>
        <p:spPr>
          <a:xfrm>
            <a:off x="0" y="2"/>
            <a:ext cx="18288000" cy="10286998"/>
          </a:xfrm>
          <a:custGeom>
            <a:avLst/>
            <a:gdLst/>
            <a:ahLst/>
            <a:cxnLst/>
            <a:rect l="l" t="t" r="r" b="b"/>
            <a:pathLst>
              <a:path w="18288000" h="10286998" extrusionOk="0">
                <a:moveTo>
                  <a:pt x="0" y="0"/>
                </a:moveTo>
                <a:lnTo>
                  <a:pt x="18288000" y="0"/>
                </a:lnTo>
                <a:lnTo>
                  <a:pt x="18288000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>
              <a:fillRect/>
            </a:stretch>
          </a:blipFill>
          <a:ln>
            <a:noFill/>
          </a:ln>
        </p:spPr>
      </p:sp>
      <p:sp>
        <p:nvSpPr>
          <p:cNvPr id="157" name="Google Shape;157;p5"/>
          <p:cNvSpPr/>
          <p:nvPr/>
        </p:nvSpPr>
        <p:spPr>
          <a:xfrm>
            <a:off x="0" y="-2397900"/>
            <a:ext cx="18288000" cy="12692983"/>
          </a:xfrm>
          <a:custGeom>
            <a:avLst/>
            <a:gdLst/>
            <a:ahLst/>
            <a:cxnLst/>
            <a:rect l="l" t="t" r="r" b="b"/>
            <a:pathLst>
              <a:path w="24384000" h="13722144" extrusionOk="0">
                <a:moveTo>
                  <a:pt x="0" y="0"/>
                </a:moveTo>
                <a:lnTo>
                  <a:pt x="24384000" y="0"/>
                </a:lnTo>
                <a:lnTo>
                  <a:pt x="24384000" y="13722144"/>
                </a:lnTo>
                <a:lnTo>
                  <a:pt x="0" y="13722144"/>
                </a:lnTo>
                <a:close/>
              </a:path>
            </a:pathLst>
          </a:custGeom>
          <a:solidFill>
            <a:srgbClr val="C7243D"/>
          </a:solidFill>
          <a:ln>
            <a:noFill/>
          </a:ln>
        </p:spPr>
      </p:sp>
      <p:sp>
        <p:nvSpPr>
          <p:cNvPr id="158" name="Google Shape;158;p5"/>
          <p:cNvSpPr txBox="1"/>
          <p:nvPr/>
        </p:nvSpPr>
        <p:spPr>
          <a:xfrm>
            <a:off x="462668" y="-2047010"/>
            <a:ext cx="146625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EEECE1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Highlights/Difference between exisiting solution</a:t>
            </a:r>
            <a:endParaRPr lang="en-US" sz="4200" b="1" i="0" u="none" strike="noStrike" cap="none">
              <a:solidFill>
                <a:srgbClr val="EEECE1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pic>
        <p:nvPicPr>
          <p:cNvPr id="159" name="Google Shape;159;p5" title="logo.png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14519950" y="-1568232"/>
            <a:ext cx="3119526" cy="129407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 Box 3"/>
          <p:cNvSpPr txBox="1"/>
          <p:nvPr/>
        </p:nvSpPr>
        <p:spPr>
          <a:xfrm>
            <a:off x="1102360" y="-847090"/>
            <a:ext cx="1296733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4400" b="1">
                <a:solidFill>
                  <a:schemeClr val="bg1"/>
                </a:solidFill>
              </a:rPr>
              <a:t>What Makes ShikshaCare Different?</a:t>
            </a:r>
            <a:endParaRPr lang="en-US" altLang="en-US" sz="4400" b="1">
              <a:solidFill>
                <a:schemeClr val="bg1"/>
              </a:solidFill>
            </a:endParaRPr>
          </a:p>
        </p:txBody>
      </p:sp>
      <p:graphicFrame>
        <p:nvGraphicFramePr>
          <p:cNvPr id="5" name="Table 4"/>
          <p:cNvGraphicFramePr/>
          <p:nvPr>
            <p:custDataLst>
              <p:tags r:id="rId3"/>
            </p:custDataLst>
          </p:nvPr>
        </p:nvGraphicFramePr>
        <p:xfrm>
          <a:off x="1280160" y="474980"/>
          <a:ext cx="15727680" cy="6808470"/>
        </p:xfrm>
        <a:graphic>
          <a:graphicData uri="http://schemas.openxmlformats.org/drawingml/2006/table">
            <a:tbl>
              <a:tblPr/>
              <a:tblGrid>
                <a:gridCol w="7863840"/>
                <a:gridCol w="7863840"/>
              </a:tblGrid>
              <a:tr h="859790">
                <a:tc>
                  <a:txBody>
                    <a:bodyPr/>
                    <a:p>
                      <a:r>
                        <a:rPr lang="en-US" altLang="zh-CN" sz="4000" b="1" u="sng">
                          <a:solidFill>
                            <a:schemeClr val="bg1"/>
                          </a:solidFill>
                        </a:rPr>
                        <a:t>Existing Solutions</a:t>
                      </a:r>
                      <a:endParaRPr lang="en-US" altLang="zh-CN" sz="4000" b="1" u="sng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4000" b="1" u="sng">
                          <a:solidFill>
                            <a:schemeClr val="bg1"/>
                          </a:solidFill>
                        </a:rPr>
                        <a:t>ShikshaCare</a:t>
                      </a:r>
                      <a:endParaRPr lang="en-US" altLang="zh-CN" sz="4000" b="1" u="sng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50365">
                <a:tc>
                  <a:txBody>
                    <a:bodyPr/>
                    <a:p>
                      <a:r>
                        <a:rPr lang="en-US" altLang="zh-CN" sz="4000">
                          <a:solidFill>
                            <a:schemeClr val="bg1"/>
                          </a:solidFill>
                        </a:rPr>
                        <a:t>Generic learning platforms</a:t>
                      </a:r>
                      <a:endParaRPr lang="en-US" altLang="zh-CN" sz="4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4000">
                          <a:solidFill>
                            <a:schemeClr val="bg1"/>
                          </a:solidFill>
                        </a:rPr>
                        <a:t>Career - aligned personalized learning</a:t>
                      </a:r>
                      <a:endParaRPr lang="en-US" altLang="zh-CN" sz="4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59790">
                <a:tc>
                  <a:txBody>
                    <a:bodyPr/>
                    <a:p>
                      <a:r>
                        <a:rPr lang="en-US" altLang="zh-CN" sz="4000">
                          <a:solidFill>
                            <a:schemeClr val="bg1"/>
                          </a:solidFill>
                        </a:rPr>
                        <a:t>One - time career guidance</a:t>
                      </a:r>
                      <a:endParaRPr lang="en-US" altLang="zh-CN" sz="4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4000">
                          <a:solidFill>
                            <a:schemeClr val="bg1"/>
                          </a:solidFill>
                        </a:rPr>
                        <a:t>Continuous AI guidance</a:t>
                      </a:r>
                      <a:endParaRPr lang="en-US" altLang="zh-CN" sz="4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59790">
                <a:tc>
                  <a:txBody>
                    <a:bodyPr/>
                    <a:p>
                      <a:r>
                        <a:rPr lang="en-US" altLang="zh-CN" sz="4000">
                          <a:solidFill>
                            <a:schemeClr val="bg1"/>
                          </a:solidFill>
                        </a:rPr>
                        <a:t>Mental health as separate app</a:t>
                      </a:r>
                      <a:endParaRPr lang="en-US" altLang="zh-CN" sz="4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4000">
                          <a:solidFill>
                            <a:schemeClr val="bg1"/>
                          </a:solidFill>
                        </a:rPr>
                        <a:t>Mental health built - in</a:t>
                      </a:r>
                      <a:endParaRPr lang="en-US" altLang="zh-CN" sz="4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59790">
                <a:tc>
                  <a:txBody>
                    <a:bodyPr/>
                    <a:p>
                      <a:r>
                        <a:rPr lang="en-US" altLang="zh-CN" sz="4000">
                          <a:solidFill>
                            <a:schemeClr val="bg1"/>
                          </a:solidFill>
                        </a:rPr>
                        <a:t>Static assessments</a:t>
                      </a:r>
                      <a:endParaRPr lang="en-US" altLang="zh-CN" sz="4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4000">
                          <a:solidFill>
                            <a:schemeClr val="bg1"/>
                          </a:solidFill>
                        </a:rPr>
                        <a:t>Adaptive assessments</a:t>
                      </a:r>
                      <a:endParaRPr lang="en-US" altLang="zh-CN" sz="4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59155">
                <a:tc>
                  <a:txBody>
                    <a:bodyPr/>
                    <a:p>
                      <a:r>
                        <a:rPr lang="en-US" altLang="zh-CN" sz="4000">
                          <a:solidFill>
                            <a:schemeClr val="bg1"/>
                          </a:solidFill>
                        </a:rPr>
                        <a:t>Certificates only</a:t>
                      </a:r>
                      <a:endParaRPr lang="en-US" altLang="zh-CN" sz="4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4000">
                          <a:solidFill>
                            <a:schemeClr val="bg1"/>
                          </a:solidFill>
                        </a:rPr>
                        <a:t>Real skill validation</a:t>
                      </a:r>
                      <a:endParaRPr lang="en-US" altLang="zh-CN" sz="4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59790">
                <a:tc>
                  <a:txBody>
                    <a:bodyPr/>
                    <a:p>
                      <a:r>
                        <a:rPr lang="en-US" altLang="zh-CN" sz="4000">
                          <a:solidFill>
                            <a:schemeClr val="bg1"/>
                          </a:solidFill>
                        </a:rPr>
                        <a:t>Fragmented tools</a:t>
                      </a:r>
                      <a:endParaRPr lang="en-US" altLang="zh-CN" sz="4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4000">
                          <a:solidFill>
                            <a:schemeClr val="bg1"/>
                          </a:solidFill>
                        </a:rPr>
                        <a:t>One unified system</a:t>
                      </a:r>
                      <a:endParaRPr lang="en-US" altLang="zh-CN" sz="4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oogle Shape;168;p6"/>
          <p:cNvGrpSpPr/>
          <p:nvPr/>
        </p:nvGrpSpPr>
        <p:grpSpPr>
          <a:xfrm>
            <a:off x="5175" y="19925"/>
            <a:ext cx="18307050" cy="10480642"/>
            <a:chOff x="0" y="0"/>
            <a:chExt cx="24409400" cy="13974190"/>
          </a:xfrm>
        </p:grpSpPr>
        <p:sp>
          <p:nvSpPr>
            <p:cNvPr id="169" name="Google Shape;169;p6"/>
            <p:cNvSpPr/>
            <p:nvPr/>
          </p:nvSpPr>
          <p:spPr>
            <a:xfrm>
              <a:off x="12700" y="12700"/>
              <a:ext cx="24384000" cy="13948790"/>
            </a:xfrm>
            <a:custGeom>
              <a:avLst/>
              <a:gdLst/>
              <a:ahLst/>
              <a:cxnLst/>
              <a:rect l="l" t="t" r="r" b="b"/>
              <a:pathLst>
                <a:path w="24384000" h="13948790" extrusionOk="0">
                  <a:moveTo>
                    <a:pt x="0" y="0"/>
                  </a:moveTo>
                  <a:lnTo>
                    <a:pt x="24384000" y="0"/>
                  </a:lnTo>
                  <a:lnTo>
                    <a:pt x="24384000" y="13948790"/>
                  </a:lnTo>
                  <a:lnTo>
                    <a:pt x="0" y="1394879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170" name="Google Shape;170;p6"/>
            <p:cNvSpPr/>
            <p:nvPr/>
          </p:nvSpPr>
          <p:spPr>
            <a:xfrm>
              <a:off x="0" y="0"/>
              <a:ext cx="24409400" cy="13974190"/>
            </a:xfrm>
            <a:custGeom>
              <a:avLst/>
              <a:gdLst/>
              <a:ahLst/>
              <a:cxnLst/>
              <a:rect l="l" t="t" r="r" b="b"/>
              <a:pathLst>
                <a:path w="24409400" h="13974190" extrusionOk="0">
                  <a:moveTo>
                    <a:pt x="12700" y="0"/>
                  </a:moveTo>
                  <a:lnTo>
                    <a:pt x="24396700" y="0"/>
                  </a:lnTo>
                  <a:cubicBezTo>
                    <a:pt x="24403686" y="0"/>
                    <a:pt x="24409400" y="5715"/>
                    <a:pt x="24409400" y="12700"/>
                  </a:cubicBezTo>
                  <a:lnTo>
                    <a:pt x="24409400" y="13961490"/>
                  </a:lnTo>
                  <a:cubicBezTo>
                    <a:pt x="24409400" y="13968476"/>
                    <a:pt x="24403686" y="13974190"/>
                    <a:pt x="24396700" y="13974190"/>
                  </a:cubicBezTo>
                  <a:lnTo>
                    <a:pt x="12700" y="13974190"/>
                  </a:lnTo>
                  <a:cubicBezTo>
                    <a:pt x="5715" y="13974190"/>
                    <a:pt x="0" y="13968476"/>
                    <a:pt x="0" y="1396149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3961490"/>
                  </a:lnTo>
                  <a:lnTo>
                    <a:pt x="12700" y="13961490"/>
                  </a:lnTo>
                  <a:lnTo>
                    <a:pt x="12700" y="13948790"/>
                  </a:lnTo>
                  <a:lnTo>
                    <a:pt x="24396700" y="13948790"/>
                  </a:lnTo>
                  <a:lnTo>
                    <a:pt x="24396700" y="13961490"/>
                  </a:lnTo>
                  <a:lnTo>
                    <a:pt x="24384000" y="13961490"/>
                  </a:lnTo>
                  <a:lnTo>
                    <a:pt x="24384000" y="12700"/>
                  </a:lnTo>
                  <a:lnTo>
                    <a:pt x="24396700" y="12700"/>
                  </a:lnTo>
                  <a:lnTo>
                    <a:pt x="243967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F49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71" name="Google Shape;171;p6"/>
          <p:cNvSpPr/>
          <p:nvPr/>
        </p:nvSpPr>
        <p:spPr>
          <a:xfrm>
            <a:off x="37050" y="29450"/>
            <a:ext cx="18288000" cy="10621041"/>
          </a:xfrm>
          <a:custGeom>
            <a:avLst/>
            <a:gdLst/>
            <a:ahLst/>
            <a:cxnLst/>
            <a:rect l="l" t="t" r="r" b="b"/>
            <a:pathLst>
              <a:path w="24384000" h="14161388" extrusionOk="0">
                <a:moveTo>
                  <a:pt x="0" y="0"/>
                </a:moveTo>
                <a:lnTo>
                  <a:pt x="24384000" y="0"/>
                </a:lnTo>
                <a:lnTo>
                  <a:pt x="24384000" y="14161388"/>
                </a:lnTo>
                <a:lnTo>
                  <a:pt x="0" y="141613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>
              <a:alphaModFix amt="33000"/>
            </a:blip>
            <a:stretch>
              <a:fillRect l="-1595" r="-1595"/>
            </a:stretch>
          </a:blipFill>
          <a:ln>
            <a:noFill/>
          </a:ln>
        </p:spPr>
      </p:sp>
      <p:sp>
        <p:nvSpPr>
          <p:cNvPr id="172" name="Google Shape;172;p6"/>
          <p:cNvSpPr/>
          <p:nvPr/>
        </p:nvSpPr>
        <p:spPr>
          <a:xfrm>
            <a:off x="4877486" y="5301350"/>
            <a:ext cx="6204172" cy="4216510"/>
          </a:xfrm>
          <a:custGeom>
            <a:avLst/>
            <a:gdLst/>
            <a:ahLst/>
            <a:cxnLst/>
            <a:rect l="l" t="t" r="r" b="b"/>
            <a:pathLst>
              <a:path w="6204172" h="4216510" extrusionOk="0">
                <a:moveTo>
                  <a:pt x="0" y="0"/>
                </a:moveTo>
                <a:lnTo>
                  <a:pt x="6204172" y="0"/>
                </a:lnTo>
                <a:lnTo>
                  <a:pt x="6204172" y="4216510"/>
                </a:lnTo>
                <a:lnTo>
                  <a:pt x="0" y="42165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  <a:stretch>
              <a:fillRect l="-97379" t="-71985" r="-97379" b="-71982"/>
            </a:stretch>
          </a:blipFill>
          <a:ln>
            <a:noFill/>
          </a:ln>
        </p:spPr>
      </p:sp>
      <p:sp>
        <p:nvSpPr>
          <p:cNvPr id="173" name="Google Shape;173;p6"/>
          <p:cNvSpPr/>
          <p:nvPr/>
        </p:nvSpPr>
        <p:spPr>
          <a:xfrm>
            <a:off x="719150" y="769150"/>
            <a:ext cx="4787456" cy="4216813"/>
          </a:xfrm>
          <a:custGeom>
            <a:avLst/>
            <a:gdLst/>
            <a:ahLst/>
            <a:cxnLst/>
            <a:rect l="l" t="t" r="r" b="b"/>
            <a:pathLst>
              <a:path w="6383274" h="5622417" extrusionOk="0">
                <a:moveTo>
                  <a:pt x="0" y="434467"/>
                </a:moveTo>
                <a:cubicBezTo>
                  <a:pt x="0" y="194564"/>
                  <a:pt x="194564" y="0"/>
                  <a:pt x="434467" y="0"/>
                </a:cubicBezTo>
                <a:lnTo>
                  <a:pt x="5948807" y="0"/>
                </a:lnTo>
                <a:cubicBezTo>
                  <a:pt x="6188710" y="0"/>
                  <a:pt x="6383274" y="194564"/>
                  <a:pt x="6383274" y="434467"/>
                </a:cubicBezTo>
                <a:lnTo>
                  <a:pt x="6383274" y="5187950"/>
                </a:lnTo>
                <a:cubicBezTo>
                  <a:pt x="6383274" y="5427853"/>
                  <a:pt x="6188710" y="5622417"/>
                  <a:pt x="5948807" y="5622417"/>
                </a:cubicBezTo>
                <a:lnTo>
                  <a:pt x="434467" y="5622417"/>
                </a:lnTo>
                <a:cubicBezTo>
                  <a:pt x="194564" y="5622417"/>
                  <a:pt x="0" y="5427853"/>
                  <a:pt x="0" y="5187950"/>
                </a:cubicBezTo>
                <a:close/>
              </a:path>
            </a:pathLst>
          </a:custGeom>
          <a:solidFill>
            <a:srgbClr val="C724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4" name="Google Shape;174;p6"/>
          <p:cNvSpPr/>
          <p:nvPr/>
        </p:nvSpPr>
        <p:spPr>
          <a:xfrm>
            <a:off x="5790825" y="690250"/>
            <a:ext cx="7086600" cy="4374642"/>
          </a:xfrm>
          <a:custGeom>
            <a:avLst/>
            <a:gdLst/>
            <a:ahLst/>
            <a:cxnLst/>
            <a:rect l="l" t="t" r="r" b="b"/>
            <a:pathLst>
              <a:path w="9448800" h="5832856" extrusionOk="0">
                <a:moveTo>
                  <a:pt x="0" y="450723"/>
                </a:moveTo>
                <a:cubicBezTo>
                  <a:pt x="0" y="201803"/>
                  <a:pt x="201803" y="0"/>
                  <a:pt x="450723" y="0"/>
                </a:cubicBezTo>
                <a:lnTo>
                  <a:pt x="8998077" y="0"/>
                </a:lnTo>
                <a:cubicBezTo>
                  <a:pt x="9246997" y="0"/>
                  <a:pt x="9448800" y="201803"/>
                  <a:pt x="9448800" y="450723"/>
                </a:cubicBezTo>
                <a:lnTo>
                  <a:pt x="9448800" y="5382133"/>
                </a:lnTo>
                <a:cubicBezTo>
                  <a:pt x="9448800" y="5631053"/>
                  <a:pt x="9246997" y="5832856"/>
                  <a:pt x="8998077" y="5832856"/>
                </a:cubicBezTo>
                <a:lnTo>
                  <a:pt x="450723" y="5832856"/>
                </a:lnTo>
                <a:cubicBezTo>
                  <a:pt x="201803" y="5832856"/>
                  <a:pt x="0" y="5631053"/>
                  <a:pt x="0" y="5382133"/>
                </a:cubicBezTo>
                <a:close/>
              </a:path>
            </a:pathLst>
          </a:custGeom>
          <a:solidFill>
            <a:srgbClr val="C724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5" name="Google Shape;175;p6"/>
          <p:cNvSpPr/>
          <p:nvPr/>
        </p:nvSpPr>
        <p:spPr>
          <a:xfrm>
            <a:off x="622889" y="5260250"/>
            <a:ext cx="4912899" cy="4470397"/>
          </a:xfrm>
          <a:custGeom>
            <a:avLst/>
            <a:gdLst/>
            <a:ahLst/>
            <a:cxnLst/>
            <a:rect l="l" t="t" r="r" b="b"/>
            <a:pathLst>
              <a:path w="6410220" h="5832856" extrusionOk="0">
                <a:moveTo>
                  <a:pt x="0" y="401447"/>
                </a:moveTo>
                <a:cubicBezTo>
                  <a:pt x="0" y="179705"/>
                  <a:pt x="221734" y="0"/>
                  <a:pt x="495336" y="0"/>
                </a:cubicBezTo>
                <a:lnTo>
                  <a:pt x="5914884" y="0"/>
                </a:lnTo>
                <a:cubicBezTo>
                  <a:pt x="6188486" y="0"/>
                  <a:pt x="6410220" y="179705"/>
                  <a:pt x="6410220" y="401447"/>
                </a:cubicBezTo>
                <a:lnTo>
                  <a:pt x="6410220" y="5431409"/>
                </a:lnTo>
                <a:cubicBezTo>
                  <a:pt x="6410220" y="5653151"/>
                  <a:pt x="6188486" y="5832856"/>
                  <a:pt x="5914884" y="5832856"/>
                </a:cubicBezTo>
                <a:lnTo>
                  <a:pt x="495336" y="5832856"/>
                </a:lnTo>
                <a:cubicBezTo>
                  <a:pt x="221734" y="5832856"/>
                  <a:pt x="0" y="5653024"/>
                  <a:pt x="0" y="5431409"/>
                </a:cubicBezTo>
                <a:close/>
              </a:path>
            </a:pathLst>
          </a:custGeom>
          <a:solidFill>
            <a:srgbClr val="C724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6" name="Google Shape;176;p6"/>
          <p:cNvSpPr/>
          <p:nvPr/>
        </p:nvSpPr>
        <p:spPr>
          <a:xfrm>
            <a:off x="13871681" y="6891220"/>
            <a:ext cx="3896392" cy="1380258"/>
          </a:xfrm>
          <a:custGeom>
            <a:avLst/>
            <a:gdLst/>
            <a:ahLst/>
            <a:cxnLst/>
            <a:rect l="l" t="t" r="r" b="b"/>
            <a:pathLst>
              <a:path w="5195189" h="1840344" extrusionOk="0">
                <a:moveTo>
                  <a:pt x="0" y="274658"/>
                </a:moveTo>
                <a:cubicBezTo>
                  <a:pt x="0" y="122923"/>
                  <a:pt x="115951" y="0"/>
                  <a:pt x="259080" y="0"/>
                </a:cubicBezTo>
                <a:lnTo>
                  <a:pt x="4936109" y="0"/>
                </a:lnTo>
                <a:cubicBezTo>
                  <a:pt x="5079238" y="0"/>
                  <a:pt x="5195189" y="122923"/>
                  <a:pt x="5195189" y="274658"/>
                </a:cubicBezTo>
                <a:lnTo>
                  <a:pt x="5195189" y="1565686"/>
                </a:lnTo>
                <a:cubicBezTo>
                  <a:pt x="5195189" y="1717421"/>
                  <a:pt x="5079238" y="1840344"/>
                  <a:pt x="4936109" y="1840344"/>
                </a:cubicBezTo>
                <a:lnTo>
                  <a:pt x="259080" y="1840344"/>
                </a:lnTo>
                <a:cubicBezTo>
                  <a:pt x="115951" y="1840344"/>
                  <a:pt x="0" y="1717421"/>
                  <a:pt x="0" y="1565686"/>
                </a:cubicBezTo>
                <a:close/>
              </a:path>
            </a:pathLst>
          </a:custGeom>
          <a:solidFill>
            <a:srgbClr val="EEEC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7" name="Google Shape;177;p6"/>
          <p:cNvSpPr txBox="1"/>
          <p:nvPr/>
        </p:nvSpPr>
        <p:spPr>
          <a:xfrm>
            <a:off x="14035656" y="7185166"/>
            <a:ext cx="3568450" cy="7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000000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TECH STACK</a:t>
            </a:r>
            <a:endParaRPr lang="en-US" sz="4200" b="1" i="0" u="none" strike="noStrike" cap="none">
              <a:solidFill>
                <a:srgbClr val="000000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13161700" y="769150"/>
            <a:ext cx="4407598" cy="4374642"/>
          </a:xfrm>
          <a:custGeom>
            <a:avLst/>
            <a:gdLst/>
            <a:ahLst/>
            <a:cxnLst/>
            <a:rect l="l" t="t" r="r" b="b"/>
            <a:pathLst>
              <a:path w="5876798" h="5832856" extrusionOk="0">
                <a:moveTo>
                  <a:pt x="0" y="450723"/>
                </a:moveTo>
                <a:cubicBezTo>
                  <a:pt x="0" y="201803"/>
                  <a:pt x="201803" y="0"/>
                  <a:pt x="450723" y="0"/>
                </a:cubicBezTo>
                <a:lnTo>
                  <a:pt x="5426075" y="0"/>
                </a:lnTo>
                <a:cubicBezTo>
                  <a:pt x="5674995" y="0"/>
                  <a:pt x="5876798" y="201803"/>
                  <a:pt x="5876798" y="450723"/>
                </a:cubicBezTo>
                <a:lnTo>
                  <a:pt x="5876798" y="5382133"/>
                </a:lnTo>
                <a:cubicBezTo>
                  <a:pt x="5876798" y="5631053"/>
                  <a:pt x="5674995" y="5832856"/>
                  <a:pt x="5426075" y="5832856"/>
                </a:cubicBezTo>
                <a:lnTo>
                  <a:pt x="450723" y="5832856"/>
                </a:lnTo>
                <a:cubicBezTo>
                  <a:pt x="201803" y="5832856"/>
                  <a:pt x="0" y="5631053"/>
                  <a:pt x="0" y="5382133"/>
                </a:cubicBezTo>
                <a:close/>
              </a:path>
            </a:pathLst>
          </a:custGeom>
          <a:solidFill>
            <a:srgbClr val="C724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9" name="Google Shape;179;p6"/>
          <p:cNvSpPr txBox="1"/>
          <p:nvPr/>
        </p:nvSpPr>
        <p:spPr>
          <a:xfrm>
            <a:off x="6685181" y="1340180"/>
            <a:ext cx="43851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Backend</a:t>
            </a:r>
            <a:endParaRPr lang="en-US" sz="3400" b="1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5790825" y="5549669"/>
            <a:ext cx="7086613" cy="4276913"/>
          </a:xfrm>
          <a:custGeom>
            <a:avLst/>
            <a:gdLst/>
            <a:ahLst/>
            <a:cxnLst/>
            <a:rect l="l" t="t" r="r" b="b"/>
            <a:pathLst>
              <a:path w="9803400" h="5916549" extrusionOk="0">
                <a:moveTo>
                  <a:pt x="0" y="457196"/>
                </a:moveTo>
                <a:cubicBezTo>
                  <a:pt x="0" y="204742"/>
                  <a:pt x="230583" y="0"/>
                  <a:pt x="514899" y="0"/>
                </a:cubicBezTo>
                <a:lnTo>
                  <a:pt x="9288504" y="0"/>
                </a:lnTo>
                <a:cubicBezTo>
                  <a:pt x="9572820" y="0"/>
                  <a:pt x="9803400" y="204742"/>
                  <a:pt x="9803400" y="457196"/>
                </a:cubicBezTo>
                <a:lnTo>
                  <a:pt x="9803400" y="5459354"/>
                </a:lnTo>
                <a:cubicBezTo>
                  <a:pt x="9803400" y="5711808"/>
                  <a:pt x="9572820" y="5916549"/>
                  <a:pt x="9288504" y="5916549"/>
                </a:cubicBezTo>
                <a:lnTo>
                  <a:pt x="514899" y="5916549"/>
                </a:lnTo>
                <a:cubicBezTo>
                  <a:pt x="230583" y="5916549"/>
                  <a:pt x="0" y="5711808"/>
                  <a:pt x="0" y="5459354"/>
                </a:cubicBezTo>
                <a:close/>
              </a:path>
            </a:pathLst>
          </a:custGeom>
          <a:solidFill>
            <a:srgbClr val="C724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1" name="Google Shape;181;p6"/>
          <p:cNvSpPr txBox="1"/>
          <p:nvPr/>
        </p:nvSpPr>
        <p:spPr>
          <a:xfrm>
            <a:off x="6808720" y="6096557"/>
            <a:ext cx="500899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75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DevOps and Depolyment</a:t>
            </a:r>
            <a:endParaRPr lang="en-US" sz="3275" b="1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2" name="Google Shape;182;p6"/>
          <p:cNvSpPr txBox="1"/>
          <p:nvPr/>
        </p:nvSpPr>
        <p:spPr>
          <a:xfrm>
            <a:off x="854545" y="5342083"/>
            <a:ext cx="4449597" cy="1057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75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AI and Machine Learning</a:t>
            </a:r>
            <a:endParaRPr lang="en-US" sz="3475" b="1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3" name="Google Shape;183;p6"/>
          <p:cNvSpPr txBox="1"/>
          <p:nvPr/>
        </p:nvSpPr>
        <p:spPr>
          <a:xfrm>
            <a:off x="13598433" y="1340728"/>
            <a:ext cx="35289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APIs &amp; Integrations</a:t>
            </a:r>
            <a:endParaRPr lang="en-US" sz="3400" b="1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4" name="Google Shape;184;p6"/>
          <p:cNvSpPr txBox="1"/>
          <p:nvPr/>
        </p:nvSpPr>
        <p:spPr>
          <a:xfrm>
            <a:off x="1327583" y="1345948"/>
            <a:ext cx="35289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Frontend</a:t>
            </a:r>
            <a:endParaRPr lang="en-US" sz="3400" b="1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388110" y="2148205"/>
            <a:ext cx="3681095" cy="25044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ü"/>
            </a:pPr>
            <a:r>
              <a:rPr lang="en-US" altLang="en-US" sz="2400">
                <a:solidFill>
                  <a:schemeClr val="bg1"/>
                </a:solidFill>
              </a:rPr>
              <a:t> React.js (JavaScript)</a:t>
            </a:r>
            <a:endParaRPr lang="en-US" altLang="en-US" sz="2400">
              <a:solidFill>
                <a:schemeClr val="bg1"/>
              </a:solidFill>
            </a:endParaRPr>
          </a:p>
          <a:p>
            <a:pPr marL="342900" indent="-342900">
              <a:buFont typeface="Wingdings" panose="05000000000000000000" charset="0"/>
              <a:buChar char="ü"/>
            </a:pPr>
            <a:endParaRPr lang="en-US" altLang="en-US" sz="2400">
              <a:solidFill>
                <a:schemeClr val="bg1"/>
              </a:solidFill>
            </a:endParaRPr>
          </a:p>
          <a:p>
            <a:pPr marL="342900" indent="-342900">
              <a:buFont typeface="Wingdings" panose="05000000000000000000" charset="0"/>
              <a:buChar char="ü"/>
            </a:pPr>
            <a:r>
              <a:rPr lang="en-US" altLang="en-US" sz="2400">
                <a:solidFill>
                  <a:schemeClr val="bg1"/>
                </a:solidFill>
              </a:rPr>
              <a:t> Material UI / Tailwind    CSS</a:t>
            </a:r>
            <a:endParaRPr lang="en-US" altLang="en-US" sz="2400">
              <a:solidFill>
                <a:schemeClr val="bg1"/>
              </a:solidFill>
            </a:endParaRPr>
          </a:p>
          <a:p>
            <a:pPr marL="342900" indent="-342900">
              <a:buFont typeface="Wingdings" panose="05000000000000000000" charset="0"/>
              <a:buChar char="ü"/>
            </a:pPr>
            <a:endParaRPr lang="en-US" altLang="en-US" sz="2400">
              <a:solidFill>
                <a:schemeClr val="bg1"/>
              </a:solidFill>
            </a:endParaRPr>
          </a:p>
          <a:p>
            <a:pPr marL="342900" indent="-342900">
              <a:buFont typeface="Wingdings" panose="05000000000000000000" charset="0"/>
              <a:buChar char="ü"/>
            </a:pPr>
            <a:r>
              <a:rPr lang="en-US" altLang="en-US" sz="2400">
                <a:solidFill>
                  <a:schemeClr val="bg1"/>
                </a:solidFill>
              </a:rPr>
              <a:t> Bootstrap</a:t>
            </a:r>
            <a:endParaRPr lang="en-US" altLang="en-US" sz="2400">
              <a:solidFill>
                <a:schemeClr val="bg1"/>
              </a:solidFill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7032625" y="2148205"/>
            <a:ext cx="4785360" cy="12592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Wingdings" panose="05000000000000000000" charset="0"/>
              <a:buChar char="ü"/>
            </a:pPr>
            <a:r>
              <a:rPr lang="en-US" altLang="en-US" sz="2400">
                <a:solidFill>
                  <a:schemeClr val="bg1"/>
                </a:solidFill>
              </a:rPr>
              <a:t> Node.js</a:t>
            </a:r>
            <a:endParaRPr lang="en-US" altLang="en-US" sz="240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ü"/>
            </a:pPr>
            <a:endParaRPr lang="en-US" altLang="en-US" sz="240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ü"/>
            </a:pPr>
            <a:r>
              <a:rPr lang="en-US" altLang="en-US" sz="2400">
                <a:solidFill>
                  <a:schemeClr val="bg1"/>
                </a:solidFill>
              </a:rPr>
              <a:t> Express.js</a:t>
            </a:r>
            <a:endParaRPr lang="en-US" altLang="en-US" sz="240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ü"/>
            </a:pPr>
            <a:endParaRPr lang="en-US" altLang="en-US" sz="240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ü"/>
            </a:pPr>
            <a:r>
              <a:rPr lang="en-US" altLang="en-US" sz="2400">
                <a:solidFill>
                  <a:schemeClr val="bg1"/>
                </a:solidFill>
              </a:rPr>
              <a:t> JWT</a:t>
            </a:r>
            <a:endParaRPr lang="en-US" altLang="en-US" sz="240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ü"/>
            </a:pPr>
            <a:endParaRPr lang="en-US" altLang="en-US" sz="240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ü"/>
            </a:pPr>
            <a:r>
              <a:rPr lang="en-US" altLang="en-US" sz="2400">
                <a:solidFill>
                  <a:schemeClr val="bg1"/>
                </a:solidFill>
                <a:sym typeface="+mn-ea"/>
              </a:rPr>
              <a:t>MongoDB</a:t>
            </a:r>
            <a:endParaRPr lang="en-US" altLang="en-US" sz="2400">
              <a:solidFill>
                <a:schemeClr val="bg1"/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3598525" y="2955290"/>
            <a:ext cx="3644900" cy="12871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Wingdings" panose="05000000000000000000" charset="0"/>
              <a:buChar char="ü"/>
            </a:pPr>
            <a:r>
              <a:rPr lang="en-US" altLang="en-US" sz="2400">
                <a:solidFill>
                  <a:schemeClr val="bg1"/>
                </a:solidFill>
              </a:rPr>
              <a:t>Google OAuth</a:t>
            </a:r>
            <a:endParaRPr lang="en-US" altLang="en-US" sz="240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ü"/>
            </a:pPr>
            <a:endParaRPr lang="en-US" altLang="en-US" sz="240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ü"/>
            </a:pPr>
            <a:r>
              <a:rPr lang="en-US" altLang="en-US" sz="2400">
                <a:solidFill>
                  <a:schemeClr val="bg1"/>
                </a:solidFill>
              </a:rPr>
              <a:t>OpenAI, Gemini APIs</a:t>
            </a:r>
            <a:endParaRPr lang="en-US" altLang="en-US" sz="240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ü"/>
            </a:pPr>
            <a:endParaRPr lang="en-US" altLang="en-US" sz="240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ü"/>
            </a:pPr>
            <a:r>
              <a:rPr lang="en-US" altLang="en-US" sz="2400">
                <a:solidFill>
                  <a:schemeClr val="bg1"/>
                </a:solidFill>
              </a:rPr>
              <a:t> Adobe SDK</a:t>
            </a:r>
            <a:endParaRPr lang="en-US" altLang="en-US" sz="2400">
              <a:solidFill>
                <a:schemeClr val="bg1"/>
              </a:solidFill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1458595" y="7070090"/>
            <a:ext cx="333756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Wingdings" panose="05000000000000000000" charset="0"/>
              <a:buChar char="ü"/>
            </a:pPr>
            <a:r>
              <a:rPr lang="en-US" sz="2400">
                <a:solidFill>
                  <a:schemeClr val="bg1"/>
                </a:solidFill>
              </a:rPr>
              <a:t>Generative AI</a:t>
            </a:r>
            <a:endParaRPr lang="en-US" sz="2400">
              <a:solidFill>
                <a:schemeClr val="bg1"/>
              </a:solidFill>
            </a:endParaRPr>
          </a:p>
          <a:p>
            <a:pPr marL="342900" indent="-342900">
              <a:buFont typeface="Wingdings" panose="05000000000000000000" charset="0"/>
              <a:buChar char="ü"/>
            </a:pPr>
            <a:endParaRPr lang="en-US" sz="2400">
              <a:solidFill>
                <a:schemeClr val="bg1"/>
              </a:solidFill>
            </a:endParaRPr>
          </a:p>
          <a:p>
            <a:pPr marL="342900" indent="-342900">
              <a:buFont typeface="Wingdings" panose="05000000000000000000" charset="0"/>
              <a:buChar char="ü"/>
            </a:pPr>
            <a:r>
              <a:rPr lang="en-US" sz="2400">
                <a:solidFill>
                  <a:schemeClr val="bg1"/>
                </a:solidFill>
              </a:rPr>
              <a:t>RAG</a:t>
            </a:r>
            <a:endParaRPr lang="en-US" sz="2400">
              <a:solidFill>
                <a:schemeClr val="bg1"/>
              </a:solidFill>
            </a:endParaRPr>
          </a:p>
          <a:p>
            <a:pPr marL="342900" indent="-342900">
              <a:buFont typeface="Wingdings" panose="05000000000000000000" charset="0"/>
              <a:buChar char="ü"/>
            </a:pPr>
            <a:endParaRPr lang="en-US" sz="2400">
              <a:solidFill>
                <a:schemeClr val="bg1"/>
              </a:solidFill>
            </a:endParaRPr>
          </a:p>
          <a:p>
            <a:pPr marL="342900" indent="-342900">
              <a:buFont typeface="Wingdings" panose="05000000000000000000" charset="0"/>
              <a:buChar char="ü"/>
            </a:pPr>
            <a:r>
              <a:rPr lang="en-US" sz="2400">
                <a:solidFill>
                  <a:schemeClr val="bg1"/>
                </a:solidFill>
              </a:rPr>
              <a:t>Classification &amp; Regression</a:t>
            </a:r>
            <a:endParaRPr lang="en-US" sz="2400">
              <a:solidFill>
                <a:schemeClr val="bg1"/>
              </a:solidFill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685280" y="6891020"/>
            <a:ext cx="5684520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Wingdings" panose="05000000000000000000" charset="0"/>
              <a:buChar char="ü"/>
            </a:pPr>
            <a:r>
              <a:rPr lang="en-US" altLang="en-US" sz="2400">
                <a:solidFill>
                  <a:schemeClr val="bg1"/>
                </a:solidFill>
              </a:rPr>
              <a:t>AWS - Cloud</a:t>
            </a:r>
            <a:endParaRPr lang="en-US" altLang="en-US" sz="2400">
              <a:solidFill>
                <a:schemeClr val="bg1"/>
              </a:solidFill>
            </a:endParaRPr>
          </a:p>
          <a:p>
            <a:pPr marL="342900" indent="-342900">
              <a:buFont typeface="Wingdings" panose="05000000000000000000" charset="0"/>
              <a:buChar char="ü"/>
            </a:pPr>
            <a:endParaRPr lang="en-US" altLang="en-US" sz="2400">
              <a:solidFill>
                <a:schemeClr val="bg1"/>
              </a:solidFill>
            </a:endParaRPr>
          </a:p>
          <a:p>
            <a:pPr marL="342900" indent="-342900">
              <a:buFont typeface="Wingdings" panose="05000000000000000000" charset="0"/>
              <a:buChar char="ü"/>
            </a:pPr>
            <a:r>
              <a:rPr lang="en-US" altLang="en-US" sz="2400">
                <a:solidFill>
                  <a:schemeClr val="bg1"/>
                </a:solidFill>
              </a:rPr>
              <a:t>Vercel</a:t>
            </a:r>
            <a:endParaRPr lang="en-US" altLang="en-US" sz="2400">
              <a:solidFill>
                <a:schemeClr val="bg1"/>
              </a:solidFill>
            </a:endParaRPr>
          </a:p>
          <a:p>
            <a:pPr marL="342900" indent="-342900">
              <a:buFont typeface="Wingdings" panose="05000000000000000000" charset="0"/>
              <a:buChar char="ü"/>
            </a:pPr>
            <a:endParaRPr lang="en-US" altLang="en-US" sz="2400">
              <a:solidFill>
                <a:schemeClr val="bg1"/>
              </a:solidFill>
            </a:endParaRPr>
          </a:p>
          <a:p>
            <a:pPr marL="342900" indent="-342900">
              <a:buFont typeface="Wingdings" panose="05000000000000000000" charset="0"/>
              <a:buChar char="ü"/>
            </a:pPr>
            <a:r>
              <a:rPr lang="en-US" altLang="en-US" sz="2400">
                <a:solidFill>
                  <a:schemeClr val="bg1"/>
                </a:solidFill>
              </a:rPr>
              <a:t>Render</a:t>
            </a:r>
            <a:endParaRPr lang="en-US" altLang="en-US" sz="2400">
              <a:solidFill>
                <a:schemeClr val="bg1"/>
              </a:solidFill>
            </a:endParaRPr>
          </a:p>
          <a:p>
            <a:pPr marL="342900" indent="-342900">
              <a:buFont typeface="Wingdings" panose="05000000000000000000" charset="0"/>
              <a:buChar char="ü"/>
            </a:pPr>
            <a:endParaRPr lang="en-US" altLang="en-US" sz="2400">
              <a:solidFill>
                <a:schemeClr val="bg1"/>
              </a:solidFill>
            </a:endParaRPr>
          </a:p>
          <a:p>
            <a:pPr marL="342900" indent="-342900">
              <a:buFont typeface="Wingdings" panose="05000000000000000000" charset="0"/>
              <a:buChar char="ü"/>
            </a:pPr>
            <a:r>
              <a:rPr lang="en-US" altLang="en-US" sz="2400">
                <a:solidFill>
                  <a:schemeClr val="bg1"/>
                </a:solidFill>
              </a:rPr>
              <a:t>GitHub Actions</a:t>
            </a:r>
            <a:endParaRPr lang="en-US" altLang="en-US" sz="24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"/>
          <p:cNvSpPr/>
          <p:nvPr/>
        </p:nvSpPr>
        <p:spPr>
          <a:xfrm>
            <a:off x="34495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            </a:t>
            </a:r>
            <a:endParaRPr lang="en-US" dirty="0"/>
          </a:p>
          <a:p>
            <a:r>
              <a:rPr lang="en-US" dirty="0"/>
              <a:t>     </a:t>
            </a:r>
            <a:endParaRPr lang="en-US" dirty="0"/>
          </a:p>
          <a:p>
            <a:r>
              <a:rPr lang="en-US" sz="3200" dirty="0">
                <a:solidFill>
                  <a:schemeClr val="tx2">
                    <a:lumMod val="75000"/>
                  </a:schemeClr>
                </a:solidFill>
              </a:rPr>
              <a:t>        </a:t>
            </a:r>
            <a:r>
              <a:rPr lang="en-US" sz="3200" dirty="0">
                <a:solidFill>
                  <a:schemeClr val="bg1"/>
                </a:solidFill>
              </a:rPr>
              <a:t>1.</a:t>
            </a:r>
            <a:r>
              <a:rPr lang="en-US" sz="3200" dirty="0">
                <a:solidFill>
                  <a:schemeClr val="bg1">
                    <a:lumMod val="75000"/>
                  </a:schemeClr>
                </a:solidFill>
              </a:rPr>
              <a:t>Mohammad Sabeel        SRIT                </a:t>
            </a:r>
            <a:r>
              <a:rPr lang="en-US" sz="3200" dirty="0" err="1">
                <a:solidFill>
                  <a:schemeClr val="bg1">
                    <a:lumMod val="75000"/>
                  </a:schemeClr>
                </a:solidFill>
              </a:rPr>
              <a:t>Anantapur,AP</a:t>
            </a:r>
            <a:r>
              <a:rPr lang="en-US" sz="3200" dirty="0">
                <a:solidFill>
                  <a:schemeClr val="bg1">
                    <a:lumMod val="75000"/>
                  </a:schemeClr>
                </a:solidFill>
              </a:rPr>
              <a:t>	         Full Stack Developer           Male</a:t>
            </a:r>
            <a:endParaRPr lang="en-US" sz="3200" dirty="0">
              <a:solidFill>
                <a:schemeClr val="bg1">
                  <a:lumMod val="75000"/>
                </a:schemeClr>
              </a:solidFill>
            </a:endParaRPr>
          </a:p>
          <a:p>
            <a:endParaRPr lang="en-US" sz="3200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sz="3200" dirty="0">
                <a:solidFill>
                  <a:schemeClr val="bg1">
                    <a:lumMod val="75000"/>
                  </a:schemeClr>
                </a:solidFill>
              </a:rPr>
              <a:t>	</a:t>
            </a:r>
            <a:r>
              <a:rPr lang="en-US" sz="3200" dirty="0">
                <a:solidFill>
                  <a:schemeClr val="bg1"/>
                </a:solidFill>
              </a:rPr>
              <a:t>2.</a:t>
            </a:r>
            <a:r>
              <a:rPr lang="en-US" sz="3200" dirty="0">
                <a:solidFill>
                  <a:schemeClr val="bg1">
                    <a:lumMod val="75000"/>
                  </a:schemeClr>
                </a:solidFill>
              </a:rPr>
              <a:t>Mohammad Ikram		  SRIT 		  </a:t>
            </a:r>
            <a:r>
              <a:rPr lang="en-US" sz="3200" dirty="0" err="1">
                <a:solidFill>
                  <a:schemeClr val="bg1">
                    <a:lumMod val="75000"/>
                  </a:schemeClr>
                </a:solidFill>
              </a:rPr>
              <a:t>Anantapur,AP</a:t>
            </a:r>
            <a:r>
              <a:rPr lang="en-US" sz="3200" dirty="0">
                <a:solidFill>
                  <a:schemeClr val="bg1">
                    <a:lumMod val="75000"/>
                  </a:schemeClr>
                </a:solidFill>
              </a:rPr>
              <a:t>	 Full Stack Developer	    Male</a:t>
            </a:r>
            <a:endParaRPr lang="en-US" sz="3200" dirty="0">
              <a:solidFill>
                <a:schemeClr val="bg1">
                  <a:lumMod val="75000"/>
                </a:schemeClr>
              </a:solidFill>
            </a:endParaRPr>
          </a:p>
          <a:p>
            <a:endParaRPr lang="en-US" sz="3200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sz="3200" dirty="0">
                <a:solidFill>
                  <a:schemeClr val="bg1">
                    <a:lumMod val="75000"/>
                  </a:schemeClr>
                </a:solidFill>
              </a:rPr>
              <a:t>	</a:t>
            </a:r>
            <a:r>
              <a:rPr lang="en-US" sz="3200" dirty="0">
                <a:solidFill>
                  <a:schemeClr val="bg1"/>
                </a:solidFill>
              </a:rPr>
              <a:t>3.</a:t>
            </a:r>
            <a:r>
              <a:rPr lang="en-US" sz="3200" dirty="0">
                <a:solidFill>
                  <a:schemeClr val="bg1">
                    <a:lumMod val="75000"/>
                  </a:schemeClr>
                </a:solidFill>
              </a:rPr>
              <a:t>Mohammed Faraz		  SRIT		  </a:t>
            </a:r>
            <a:r>
              <a:rPr lang="en-US" sz="3200" dirty="0" err="1">
                <a:solidFill>
                  <a:schemeClr val="bg1">
                    <a:lumMod val="75000"/>
                  </a:schemeClr>
                </a:solidFill>
              </a:rPr>
              <a:t>Anantapur,AP</a:t>
            </a:r>
            <a:r>
              <a:rPr lang="en-US" sz="3200" dirty="0">
                <a:solidFill>
                  <a:schemeClr val="bg1">
                    <a:lumMod val="75000"/>
                  </a:schemeClr>
                </a:solidFill>
              </a:rPr>
              <a:t>	 UI/UX </a:t>
            </a:r>
            <a:r>
              <a:rPr lang="en-US" sz="3200" dirty="0" err="1">
                <a:solidFill>
                  <a:schemeClr val="bg1">
                    <a:lumMod val="75000"/>
                  </a:schemeClr>
                </a:solidFill>
              </a:rPr>
              <a:t>Designer</a:t>
            </a:r>
            <a:r>
              <a:rPr lang="en-US" sz="3200" dirty="0">
                <a:solidFill>
                  <a:schemeClr val="bg1">
                    <a:lumMod val="75000"/>
                  </a:schemeClr>
                </a:solidFill>
              </a:rPr>
              <a:t>		    Male</a:t>
            </a:r>
            <a:endParaRPr lang="en-US" sz="3200" dirty="0">
              <a:solidFill>
                <a:schemeClr val="bg1">
                  <a:lumMod val="75000"/>
                </a:schemeClr>
              </a:solidFill>
            </a:endParaRPr>
          </a:p>
          <a:p>
            <a:endParaRPr lang="en-US" sz="3200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sz="3200" dirty="0">
                <a:solidFill>
                  <a:schemeClr val="bg1">
                    <a:lumMod val="75000"/>
                  </a:schemeClr>
                </a:solidFill>
              </a:rPr>
              <a:t>	</a:t>
            </a:r>
            <a:r>
              <a:rPr lang="en-US" sz="3200" dirty="0">
                <a:solidFill>
                  <a:schemeClr val="bg1"/>
                </a:solidFill>
              </a:rPr>
              <a:t>4.</a:t>
            </a:r>
            <a:r>
              <a:rPr lang="en-US" sz="3200" dirty="0">
                <a:solidFill>
                  <a:schemeClr val="bg1">
                    <a:lumMod val="75000"/>
                  </a:schemeClr>
                </a:solidFill>
              </a:rPr>
              <a:t>Gouse Mohiddin		  SRIT		  </a:t>
            </a:r>
            <a:r>
              <a:rPr lang="en-US" sz="3200" dirty="0" err="1">
                <a:solidFill>
                  <a:schemeClr val="bg1">
                    <a:lumMod val="75000"/>
                  </a:schemeClr>
                </a:solidFill>
              </a:rPr>
              <a:t>Anantapur,AP</a:t>
            </a:r>
            <a:r>
              <a:rPr lang="en-US" sz="3200" dirty="0">
                <a:solidFill>
                  <a:schemeClr val="bg1">
                    <a:lumMod val="75000"/>
                  </a:schemeClr>
                </a:solidFill>
              </a:rPr>
              <a:t>	 Front-End Developer	    Male</a:t>
            </a:r>
            <a:endParaRPr lang="en-US" sz="3200" dirty="0">
              <a:solidFill>
                <a:schemeClr val="bg1">
                  <a:lumMod val="75000"/>
                </a:schemeClr>
              </a:solidFill>
            </a:endParaRPr>
          </a:p>
          <a:p>
            <a:endParaRPr lang="en-US" sz="3200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sz="3200" dirty="0">
                <a:solidFill>
                  <a:schemeClr val="bg1">
                    <a:lumMod val="75000"/>
                  </a:schemeClr>
                </a:solidFill>
              </a:rPr>
              <a:t>	</a:t>
            </a:r>
            <a:r>
              <a:rPr lang="en-US" sz="3200" dirty="0">
                <a:solidFill>
                  <a:schemeClr val="bg1"/>
                </a:solidFill>
              </a:rPr>
              <a:t>5.</a:t>
            </a:r>
            <a:r>
              <a:rPr lang="en-US" sz="3200" dirty="0">
                <a:solidFill>
                  <a:schemeClr val="bg1">
                    <a:lumMod val="75000"/>
                  </a:schemeClr>
                </a:solidFill>
              </a:rPr>
              <a:t>Mourya Ayyapa		  SRIT 		  </a:t>
            </a:r>
            <a:r>
              <a:rPr lang="en-US" sz="3200" dirty="0" err="1">
                <a:solidFill>
                  <a:schemeClr val="bg1">
                    <a:lumMod val="75000"/>
                  </a:schemeClr>
                </a:solidFill>
              </a:rPr>
              <a:t>Anantapur,AP</a:t>
            </a:r>
            <a:r>
              <a:rPr lang="en-US" sz="3200" dirty="0">
                <a:solidFill>
                  <a:schemeClr val="bg1">
                    <a:lumMod val="75000"/>
                  </a:schemeClr>
                </a:solidFill>
              </a:rPr>
              <a:t>	 Full Stack Developer	    Male</a:t>
            </a:r>
            <a:endParaRPr lang="en-US" sz="3200" dirty="0">
              <a:solidFill>
                <a:schemeClr val="bg1">
                  <a:lumMod val="75000"/>
                </a:schemeClr>
              </a:solidFill>
            </a:endParaRPr>
          </a:p>
          <a:p>
            <a:endParaRPr lang="en-US" sz="3200" dirty="0">
              <a:solidFill>
                <a:schemeClr val="tx2">
                  <a:lumMod val="75000"/>
                </a:schemeClr>
              </a:solidFill>
            </a:endParaRPr>
          </a:p>
          <a:p>
            <a:endParaRPr lang="en-US" sz="3200" dirty="0">
              <a:solidFill>
                <a:schemeClr val="tx2">
                  <a:lumMod val="75000"/>
                </a:schemeClr>
              </a:solidFill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2800" dirty="0">
                <a:solidFill>
                  <a:srgbClr val="00B0F0"/>
                </a:solidFill>
              </a:rPr>
              <a:t>     </a:t>
            </a:r>
            <a:endParaRPr lang="en-US" sz="2800" dirty="0">
              <a:solidFill>
                <a:srgbClr val="00B0F0"/>
              </a:solidFill>
            </a:endParaRPr>
          </a:p>
        </p:txBody>
      </p:sp>
      <p:sp>
        <p:nvSpPr>
          <p:cNvPr id="194" name="Google Shape;194;p7"/>
          <p:cNvSpPr txBox="1"/>
          <p:nvPr/>
        </p:nvSpPr>
        <p:spPr>
          <a:xfrm>
            <a:off x="1776325" y="2455376"/>
            <a:ext cx="14037150" cy="996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20000"/>
              </a:lnSpc>
            </a:pPr>
            <a:r>
              <a:rPr lang="en-US" sz="5200" b="1" i="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Raleway"/>
                <a:cs typeface="Arial" panose="020B0604020202020204" pitchFamily="34" charset="0"/>
                <a:sym typeface="Raleway"/>
              </a:rPr>
              <a:t>Team Name: </a:t>
            </a:r>
            <a:r>
              <a:rPr lang="en-US" sz="5400" b="1" dirty="0">
                <a:solidFill>
                  <a:srgbClr val="FFFFFF"/>
                </a:solidFill>
                <a:latin typeface="Arial" panose="020B0604020202020204" pitchFamily="34" charset="0"/>
                <a:ea typeface="Montserrat" panose="00000500000000000000"/>
                <a:cs typeface="Arial" panose="020B0604020202020204" pitchFamily="34" charset="0"/>
                <a:sym typeface="Montserrat" panose="00000500000000000000"/>
              </a:rPr>
              <a:t>Code </a:t>
            </a:r>
            <a:r>
              <a:rPr lang="en-US" sz="5400" b="1" dirty="0" err="1">
                <a:solidFill>
                  <a:srgbClr val="FFFFFF"/>
                </a:solidFill>
                <a:latin typeface="Arial" panose="020B0604020202020204" pitchFamily="34" charset="0"/>
                <a:ea typeface="Montserrat" panose="00000500000000000000"/>
                <a:cs typeface="Arial" panose="020B0604020202020204" pitchFamily="34" charset="0"/>
                <a:sym typeface="Montserrat" panose="00000500000000000000"/>
              </a:rPr>
              <a:t>Prirates</a:t>
            </a:r>
            <a:r>
              <a:rPr lang="en-US" sz="5200" b="1" i="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Raleway"/>
                <a:cs typeface="Arial" panose="020B0604020202020204" pitchFamily="34" charset="0"/>
                <a:sym typeface="Raleway"/>
              </a:rPr>
              <a:t>  </a:t>
            </a:r>
            <a:r>
              <a:rPr lang="en-US" sz="5200" b="1" i="0" u="none" strike="noStrike" cap="none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endParaRPr dirty="0"/>
          </a:p>
        </p:txBody>
      </p:sp>
      <p:sp>
        <p:nvSpPr>
          <p:cNvPr id="195" name="Google Shape;195;p7"/>
          <p:cNvSpPr txBox="1"/>
          <p:nvPr/>
        </p:nvSpPr>
        <p:spPr>
          <a:xfrm>
            <a:off x="1118013" y="4239627"/>
            <a:ext cx="3032550" cy="516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sng" strike="noStrike" cap="none" dirty="0">
                <a:solidFill>
                  <a:schemeClr val="bg1"/>
                </a:solidFill>
                <a:latin typeface="+mj-lt"/>
                <a:ea typeface="Raleway"/>
                <a:cs typeface="Raleway"/>
                <a:sym typeface="Raleway"/>
              </a:rPr>
              <a:t> Name</a:t>
            </a:r>
            <a:endParaRPr lang="en-US" sz="2800" b="1" i="0" u="sng" strike="noStrike" cap="none" dirty="0">
              <a:solidFill>
                <a:schemeClr val="bg1"/>
              </a:solidFill>
              <a:latin typeface="+mj-lt"/>
              <a:ea typeface="Raleway"/>
              <a:cs typeface="Raleway"/>
              <a:sym typeface="Raleway"/>
            </a:endParaRPr>
          </a:p>
        </p:txBody>
      </p:sp>
      <p:sp>
        <p:nvSpPr>
          <p:cNvPr id="196" name="Google Shape;196;p7"/>
          <p:cNvSpPr txBox="1"/>
          <p:nvPr/>
        </p:nvSpPr>
        <p:spPr>
          <a:xfrm>
            <a:off x="5519258" y="4239627"/>
            <a:ext cx="3529211" cy="516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sng" strike="noStrike" cap="none" dirty="0">
                <a:solidFill>
                  <a:srgbClr val="FFFFFF"/>
                </a:solidFill>
                <a:latin typeface="+mj-lt"/>
                <a:ea typeface="Raleway"/>
                <a:cs typeface="Raleway"/>
                <a:sym typeface="Raleway"/>
              </a:rPr>
              <a:t>College Name</a:t>
            </a:r>
            <a:endParaRPr sz="2800" b="1" u="sng" dirty="0">
              <a:latin typeface="+mj-lt"/>
            </a:endParaRPr>
          </a:p>
        </p:txBody>
      </p:sp>
      <p:sp>
        <p:nvSpPr>
          <p:cNvPr id="197" name="Google Shape;197;p7"/>
          <p:cNvSpPr txBox="1"/>
          <p:nvPr/>
        </p:nvSpPr>
        <p:spPr>
          <a:xfrm>
            <a:off x="8561070" y="4239895"/>
            <a:ext cx="3622675" cy="516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sng" strike="noStrike" cap="none" dirty="0">
                <a:solidFill>
                  <a:srgbClr val="FFFFFF"/>
                </a:solidFill>
                <a:latin typeface="+mj-lt"/>
                <a:ea typeface="Raleway"/>
                <a:cs typeface="Raleway"/>
                <a:sym typeface="Raleway"/>
              </a:rPr>
              <a:t>College Location</a:t>
            </a:r>
            <a:endParaRPr sz="2800" b="1" u="sng" dirty="0">
              <a:latin typeface="+mj-lt"/>
            </a:endParaRPr>
          </a:p>
        </p:txBody>
      </p:sp>
      <p:sp>
        <p:nvSpPr>
          <p:cNvPr id="198" name="Google Shape;198;p7"/>
          <p:cNvSpPr txBox="1"/>
          <p:nvPr/>
        </p:nvSpPr>
        <p:spPr>
          <a:xfrm>
            <a:off x="12183444" y="4239627"/>
            <a:ext cx="2299500" cy="516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r>
              <a:rPr lang="en-US" sz="2800" b="1" i="0" u="sng" strike="noStrike" cap="none" dirty="0">
                <a:solidFill>
                  <a:srgbClr val="FFFFFF"/>
                </a:solidFill>
                <a:latin typeface="+mj-lt"/>
                <a:ea typeface="Raleway"/>
                <a:cs typeface="Raleway"/>
                <a:sym typeface="Raleway"/>
              </a:rPr>
              <a:t>Position</a:t>
            </a:r>
            <a:endParaRPr sz="2800" b="1" u="sng" dirty="0">
              <a:latin typeface="+mj-lt"/>
            </a:endParaRPr>
          </a:p>
        </p:txBody>
      </p:sp>
      <p:sp>
        <p:nvSpPr>
          <p:cNvPr id="199" name="Google Shape;199;p7"/>
          <p:cNvSpPr txBox="1"/>
          <p:nvPr/>
        </p:nvSpPr>
        <p:spPr>
          <a:xfrm>
            <a:off x="16752149" y="4239627"/>
            <a:ext cx="2299350" cy="516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sng" strike="noStrike" cap="none" dirty="0">
                <a:solidFill>
                  <a:srgbClr val="FFFFFF"/>
                </a:solidFill>
                <a:latin typeface="+mj-lt"/>
                <a:ea typeface="Raleway"/>
                <a:cs typeface="Raleway"/>
                <a:sym typeface="Raleway"/>
              </a:rPr>
              <a:t>Gender</a:t>
            </a:r>
            <a:endParaRPr sz="2800" b="1" u="sng" dirty="0">
              <a:latin typeface="+mj-lt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1238*536"/>
  <p:tag name="TABLE_ENDDRAG_RECT" val="100*37*1238*536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2634</Words>
  <Application>WPS Presentation</Application>
  <PresentationFormat>Custom</PresentationFormat>
  <Paragraphs>229</Paragraphs>
  <Slides>8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3" baseType="lpstr">
      <vt:lpstr>Arial</vt:lpstr>
      <vt:lpstr>SimSun</vt:lpstr>
      <vt:lpstr>Wingdings</vt:lpstr>
      <vt:lpstr>Arial</vt:lpstr>
      <vt:lpstr>Calibri</vt:lpstr>
      <vt:lpstr>Montserrat</vt:lpstr>
      <vt:lpstr>Raleway</vt:lpstr>
      <vt:lpstr>Arimo</vt:lpstr>
      <vt:lpstr>Microsoft YaHei</vt:lpstr>
      <vt:lpstr>Arial Unicode MS</vt:lpstr>
      <vt:lpstr>Algerian</vt:lpstr>
      <vt:lpstr>Agency FB</vt:lpstr>
      <vt:lpstr>Wingdings</vt:lpstr>
      <vt:lpstr>Segoe UI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Reyaz Khan</cp:lastModifiedBy>
  <cp:revision>4</cp:revision>
  <dcterms:created xsi:type="dcterms:W3CDTF">2006-08-16T00:00:00Z</dcterms:created>
  <dcterms:modified xsi:type="dcterms:W3CDTF">2026-01-31T12:27:34Z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12B86C083BD149B4A91833E20FD8F22B_13</vt:lpwstr>
  </property>
  <property fmtid="{D5CDD505-2E9C-101B-9397-08002B2CF9AE}" pid="3" name="KSOProductBuildVer">
    <vt:lpwstr>1033-12.2.0.23196</vt:lpwstr>
  </property>
</Properties>
</file>